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7" d="100"/>
          <a:sy n="117" d="100"/>
        </p:scale>
        <p:origin x="56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56032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dirty="0">
                <a:latin typeface="Times New Roman"/>
              </a:rPr>
              <a:t>Function Switch Controller (</a:t>
            </a:r>
            <a:r>
              <a:rPr sz="3200" b="1" dirty="0" err="1">
                <a:latin typeface="Times New Roman"/>
              </a:rPr>
              <a:t>adapter_cfg_hub.v</a:t>
            </a:r>
            <a:r>
              <a:rPr sz="3200" b="1" dirty="0">
                <a:latin typeface="Times New Roman"/>
              </a:rPr>
              <a:t>)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24128"/>
            <a:ext cx="1051560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8" name="群組 87">
            <a:extLst>
              <a:ext uri="{FF2B5EF4-FFF2-40B4-BE49-F238E27FC236}">
                <a16:creationId xmlns:a16="http://schemas.microsoft.com/office/drawing/2014/main" id="{3D1A942B-80F2-5DF5-BFED-F3414C3F4C38}"/>
              </a:ext>
            </a:extLst>
          </p:cNvPr>
          <p:cNvGrpSpPr/>
          <p:nvPr/>
        </p:nvGrpSpPr>
        <p:grpSpPr>
          <a:xfrm>
            <a:off x="541457" y="1463040"/>
            <a:ext cx="11078606" cy="4846319"/>
            <a:chOff x="541457" y="1463040"/>
            <a:chExt cx="11078606" cy="4846319"/>
          </a:xfrm>
        </p:grpSpPr>
        <p:sp>
          <p:nvSpPr>
            <p:cNvPr id="4" name="Rounded Rectangle 3"/>
            <p:cNvSpPr/>
            <p:nvPr/>
          </p:nvSpPr>
          <p:spPr>
            <a:xfrm>
              <a:off x="9516943" y="1463040"/>
              <a:ext cx="2103120" cy="457200"/>
            </a:xfrm>
            <a:prstGeom prst="roundRect">
              <a:avLst/>
            </a:prstGeom>
            <a:solidFill>
              <a:srgbClr val="FFFFFF"/>
            </a:solidFill>
            <a:ln w="15240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 algn="ctr"/>
              <a:r>
                <a:rPr sz="1400" b="1" dirty="0">
                  <a:solidFill>
                    <a:srgbClr val="000000"/>
                  </a:solidFill>
                  <a:latin typeface="Times New Roman"/>
                </a:rPr>
                <a:t>MVAU0 </a:t>
              </a:r>
              <a:r>
                <a:rPr lang="en-US" sz="1400" b="1" dirty="0">
                  <a:solidFill>
                    <a:srgbClr val="000000"/>
                  </a:solidFill>
                  <a:latin typeface="Times New Roman"/>
                </a:rPr>
                <a:t>T</a:t>
              </a:r>
              <a:r>
                <a:rPr sz="1400" b="1" dirty="0">
                  <a:solidFill>
                    <a:srgbClr val="000000"/>
                  </a:solidFill>
                  <a:latin typeface="Times New Roman"/>
                </a:rPr>
                <a:t>hresh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9516943" y="2011680"/>
              <a:ext cx="2103120" cy="457200"/>
            </a:xfrm>
            <a:prstGeom prst="roundRect">
              <a:avLst/>
            </a:prstGeom>
            <a:solidFill>
              <a:srgbClr val="FFF2CC"/>
            </a:solidFill>
            <a:ln w="15240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 algn="ctr"/>
              <a:r>
                <a:rPr lang="zh-TW" altLang="zh-TW" sz="1400" b="1" dirty="0">
                  <a:solidFill>
                    <a:srgbClr val="000000"/>
                  </a:solidFill>
                  <a:latin typeface="Times New Roman"/>
                </a:rPr>
                <a:t>MVAU8 </a:t>
              </a:r>
              <a:r>
                <a:rPr lang="en-US" altLang="zh-TW" sz="1400" b="1" dirty="0">
                  <a:solidFill>
                    <a:srgbClr val="000000"/>
                  </a:solidFill>
                  <a:latin typeface="Times New Roman"/>
                </a:rPr>
                <a:t>C</a:t>
              </a:r>
              <a:r>
                <a:rPr lang="zh-TW" altLang="zh-TW" sz="1400" b="1" dirty="0">
                  <a:solidFill>
                    <a:srgbClr val="000000"/>
                  </a:solidFill>
                  <a:latin typeface="Times New Roman"/>
                </a:rPr>
                <a:t>ls </a:t>
              </a:r>
              <a:r>
                <a:rPr lang="en-US" altLang="zh-TW" sz="1400" b="1" dirty="0">
                  <a:solidFill>
                    <a:srgbClr val="000000"/>
                  </a:solidFill>
                  <a:latin typeface="Times New Roman"/>
                </a:rPr>
                <a:t>W</a:t>
              </a:r>
              <a:r>
                <a:rPr lang="zh-TW" altLang="zh-TW" sz="1400" b="1" dirty="0">
                  <a:solidFill>
                    <a:srgbClr val="000000"/>
                  </a:solidFill>
                  <a:latin typeface="Times New Roman"/>
                </a:rPr>
                <a:t>eights</a:t>
              </a:r>
              <a:endParaRPr sz="1400" b="1" dirty="0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9516943" y="2560320"/>
              <a:ext cx="2103120" cy="457200"/>
            </a:xfrm>
            <a:prstGeom prst="roundRect">
              <a:avLst/>
            </a:prstGeom>
            <a:solidFill>
              <a:srgbClr val="DDEBF7"/>
            </a:solidFill>
            <a:ln w="15240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 algn="ctr"/>
              <a:r>
                <a:rPr lang="en-US" sz="1400" b="1" dirty="0">
                  <a:solidFill>
                    <a:srgbClr val="000000"/>
                  </a:solidFill>
                  <a:latin typeface="Times New Roman"/>
                </a:rPr>
                <a:t>Super </a:t>
              </a:r>
              <a:r>
                <a:rPr sz="1400" b="1" dirty="0">
                  <a:solidFill>
                    <a:srgbClr val="000000"/>
                  </a:solidFill>
                  <a:latin typeface="Times New Roman"/>
                </a:rPr>
                <a:t>1 </a:t>
              </a:r>
              <a:r>
                <a:rPr lang="en-US" altLang="zh-TW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zh-TW" altLang="zh-TW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dapter</a:t>
              </a:r>
              <a:endParaRPr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9516943" y="3108960"/>
              <a:ext cx="2103120" cy="457200"/>
            </a:xfrm>
            <a:prstGeom prst="roundRect">
              <a:avLst/>
            </a:prstGeom>
            <a:solidFill>
              <a:srgbClr val="DDEBF7"/>
            </a:solidFill>
            <a:ln w="15240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 algn="ctr"/>
              <a:r>
                <a:rPr lang="en-US" altLang="zh-TW" sz="1400" b="1" dirty="0">
                  <a:solidFill>
                    <a:srgbClr val="000000"/>
                  </a:solidFill>
                  <a:latin typeface="Times New Roman"/>
                </a:rPr>
                <a:t>Super </a:t>
              </a:r>
              <a:r>
                <a:rPr sz="1400" b="1" dirty="0">
                  <a:solidFill>
                    <a:srgbClr val="000000"/>
                  </a:solidFill>
                  <a:latin typeface="Times New Roman"/>
                </a:rPr>
                <a:t>2 </a:t>
              </a:r>
              <a:r>
                <a:rPr lang="en-US" altLang="zh-TW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zh-TW" altLang="zh-TW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dapter</a:t>
              </a:r>
              <a:endParaRPr sz="1400" b="1" dirty="0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9516943" y="3657600"/>
              <a:ext cx="2103120" cy="457200"/>
            </a:xfrm>
            <a:prstGeom prst="roundRect">
              <a:avLst/>
            </a:prstGeom>
            <a:solidFill>
              <a:srgbClr val="DDEBF7"/>
            </a:solidFill>
            <a:ln w="15240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 algn="ctr"/>
              <a:r>
                <a:rPr lang="en-US" altLang="zh-TW" sz="1400" b="1" dirty="0">
                  <a:solidFill>
                    <a:srgbClr val="000000"/>
                  </a:solidFill>
                  <a:latin typeface="Times New Roman"/>
                </a:rPr>
                <a:t>Super </a:t>
              </a:r>
              <a:r>
                <a:rPr sz="1400" b="1" dirty="0">
                  <a:solidFill>
                    <a:srgbClr val="000000"/>
                  </a:solidFill>
                  <a:latin typeface="Times New Roman"/>
                </a:rPr>
                <a:t>3 </a:t>
              </a:r>
              <a:r>
                <a:rPr lang="en-US" altLang="zh-TW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zh-TW" altLang="zh-TW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dapter</a:t>
              </a:r>
              <a:endParaRPr sz="1400" b="1" dirty="0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9516943" y="4206240"/>
              <a:ext cx="2103120" cy="457200"/>
            </a:xfrm>
            <a:prstGeom prst="roundRect">
              <a:avLst/>
            </a:prstGeom>
            <a:solidFill>
              <a:srgbClr val="DDEBF7"/>
            </a:solidFill>
            <a:ln w="15240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 algn="ctr"/>
              <a:r>
                <a:rPr lang="en-US" altLang="zh-TW" sz="1400" b="1" dirty="0">
                  <a:solidFill>
                    <a:srgbClr val="000000"/>
                  </a:solidFill>
                  <a:latin typeface="Times New Roman"/>
                </a:rPr>
                <a:t>Super </a:t>
              </a:r>
              <a:r>
                <a:rPr sz="1400" b="1" dirty="0">
                  <a:solidFill>
                    <a:srgbClr val="000000"/>
                  </a:solidFill>
                  <a:latin typeface="Times New Roman"/>
                </a:rPr>
                <a:t>4 </a:t>
              </a:r>
              <a:r>
                <a:rPr lang="en-US" altLang="zh-TW" sz="1400" b="1" dirty="0">
                  <a:solidFill>
                    <a:srgbClr val="000000"/>
                  </a:solidFill>
                  <a:latin typeface="Times New Roman"/>
                </a:rPr>
                <a:t>A</a:t>
              </a:r>
              <a:r>
                <a:rPr lang="zh-TW" altLang="zh-TW" sz="1400" b="1" dirty="0">
                  <a:solidFill>
                    <a:srgbClr val="000000"/>
                  </a:solidFill>
                  <a:latin typeface="Times New Roman"/>
                </a:rPr>
                <a:t>dapter</a:t>
              </a:r>
              <a:endParaRPr sz="1400" b="1" dirty="0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9516943" y="4754879"/>
              <a:ext cx="2103120" cy="457200"/>
            </a:xfrm>
            <a:prstGeom prst="roundRect">
              <a:avLst/>
            </a:prstGeom>
            <a:solidFill>
              <a:srgbClr val="DDEBF7"/>
            </a:solidFill>
            <a:ln w="15240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 algn="ctr"/>
              <a:r>
                <a:rPr lang="en-US" altLang="zh-TW" sz="1400" b="1" dirty="0">
                  <a:solidFill>
                    <a:srgbClr val="000000"/>
                  </a:solidFill>
                  <a:latin typeface="Times New Roman"/>
                </a:rPr>
                <a:t>Super 5 </a:t>
              </a:r>
              <a:r>
                <a:rPr lang="en-US" altLang="zh-TW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Adapter</a:t>
              </a:r>
              <a:endParaRPr lang="en-US" altLang="zh-TW" sz="1400" b="1" dirty="0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9516943" y="5303519"/>
              <a:ext cx="2103120" cy="457200"/>
            </a:xfrm>
            <a:prstGeom prst="roundRect">
              <a:avLst/>
            </a:prstGeom>
            <a:solidFill>
              <a:srgbClr val="FFFFFF"/>
            </a:solidFill>
            <a:ln w="15240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 algn="ctr"/>
              <a:r>
                <a:rPr lang="en-US" altLang="zh-TW" sz="1400" b="1" dirty="0">
                  <a:solidFill>
                    <a:srgbClr val="000000"/>
                  </a:solidFill>
                  <a:latin typeface="Times New Roman"/>
                </a:rPr>
                <a:t>MVAU6 Thresh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9516943" y="5852159"/>
              <a:ext cx="2103120" cy="457200"/>
            </a:xfrm>
            <a:prstGeom prst="roundRect">
              <a:avLst/>
            </a:prstGeom>
            <a:solidFill>
              <a:srgbClr val="FFFFFF"/>
            </a:solidFill>
            <a:ln w="15240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 algn="ctr"/>
              <a:r>
                <a:rPr lang="en-US" altLang="zh-TW" sz="1400" b="1">
                  <a:solidFill>
                    <a:srgbClr val="000000"/>
                  </a:solidFill>
                  <a:latin typeface="Times New Roman"/>
                </a:rPr>
                <a:t>MVAU7 </a:t>
              </a:r>
              <a:r>
                <a:rPr lang="en-US" altLang="zh-TW" sz="1400" b="1" dirty="0">
                  <a:solidFill>
                    <a:srgbClr val="000000"/>
                  </a:solidFill>
                  <a:latin typeface="Times New Roman"/>
                </a:rPr>
                <a:t>Thresh</a:t>
              </a:r>
            </a:p>
          </p:txBody>
        </p:sp>
        <p:cxnSp>
          <p:nvCxnSpPr>
            <p:cNvPr id="13" name="Connector 12"/>
            <p:cNvCxnSpPr/>
            <p:nvPr/>
          </p:nvCxnSpPr>
          <p:spPr>
            <a:xfrm>
              <a:off x="8556823" y="1609344"/>
              <a:ext cx="0" cy="4389119"/>
            </a:xfrm>
            <a:prstGeom prst="line">
              <a:avLst/>
            </a:prstGeom>
            <a:ln w="1778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8968303" y="1773936"/>
              <a:ext cx="0" cy="4389119"/>
            </a:xfrm>
            <a:prstGeom prst="line">
              <a:avLst/>
            </a:prstGeom>
            <a:ln w="38100">
              <a:solidFill>
                <a:srgbClr val="30303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8556823" y="1609344"/>
              <a:ext cx="941832" cy="0"/>
            </a:xfrm>
            <a:prstGeom prst="line">
              <a:avLst/>
            </a:prstGeom>
            <a:ln w="15240">
              <a:solidFill>
                <a:srgbClr val="0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8968303" y="1773936"/>
              <a:ext cx="530352" cy="0"/>
            </a:xfrm>
            <a:prstGeom prst="line">
              <a:avLst/>
            </a:prstGeom>
            <a:ln w="25400">
              <a:solidFill>
                <a:srgbClr val="30303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8556823" y="2157984"/>
              <a:ext cx="941832" cy="0"/>
            </a:xfrm>
            <a:prstGeom prst="line">
              <a:avLst/>
            </a:prstGeom>
            <a:ln w="15240">
              <a:solidFill>
                <a:srgbClr val="0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8968303" y="2322576"/>
              <a:ext cx="530352" cy="0"/>
            </a:xfrm>
            <a:prstGeom prst="line">
              <a:avLst/>
            </a:prstGeom>
            <a:ln w="25400">
              <a:solidFill>
                <a:srgbClr val="30303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8556823" y="2706624"/>
              <a:ext cx="941832" cy="0"/>
            </a:xfrm>
            <a:prstGeom prst="line">
              <a:avLst/>
            </a:prstGeom>
            <a:ln w="15240">
              <a:solidFill>
                <a:srgbClr val="0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8968303" y="2871216"/>
              <a:ext cx="530352" cy="0"/>
            </a:xfrm>
            <a:prstGeom prst="line">
              <a:avLst/>
            </a:prstGeom>
            <a:ln w="25400">
              <a:solidFill>
                <a:srgbClr val="30303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8556823" y="3255264"/>
              <a:ext cx="941832" cy="0"/>
            </a:xfrm>
            <a:prstGeom prst="line">
              <a:avLst/>
            </a:prstGeom>
            <a:ln w="15240">
              <a:solidFill>
                <a:srgbClr val="0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8968303" y="3419856"/>
              <a:ext cx="530352" cy="0"/>
            </a:xfrm>
            <a:prstGeom prst="line">
              <a:avLst/>
            </a:prstGeom>
            <a:ln w="25400">
              <a:solidFill>
                <a:srgbClr val="30303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8556823" y="3803904"/>
              <a:ext cx="941832" cy="0"/>
            </a:xfrm>
            <a:prstGeom prst="line">
              <a:avLst/>
            </a:prstGeom>
            <a:ln w="15240">
              <a:solidFill>
                <a:srgbClr val="0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>
              <a:off x="8968303" y="3968496"/>
              <a:ext cx="530352" cy="0"/>
            </a:xfrm>
            <a:prstGeom prst="line">
              <a:avLst/>
            </a:prstGeom>
            <a:ln w="25400">
              <a:solidFill>
                <a:srgbClr val="30303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>
              <a:off x="8556823" y="4352544"/>
              <a:ext cx="941832" cy="0"/>
            </a:xfrm>
            <a:prstGeom prst="line">
              <a:avLst/>
            </a:prstGeom>
            <a:ln w="15240">
              <a:solidFill>
                <a:srgbClr val="0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or 25"/>
            <p:cNvCxnSpPr/>
            <p:nvPr/>
          </p:nvCxnSpPr>
          <p:spPr>
            <a:xfrm>
              <a:off x="8968303" y="4517136"/>
              <a:ext cx="530352" cy="0"/>
            </a:xfrm>
            <a:prstGeom prst="line">
              <a:avLst/>
            </a:prstGeom>
            <a:ln w="25400">
              <a:solidFill>
                <a:srgbClr val="30303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or 26"/>
            <p:cNvCxnSpPr/>
            <p:nvPr/>
          </p:nvCxnSpPr>
          <p:spPr>
            <a:xfrm>
              <a:off x="8556823" y="4901184"/>
              <a:ext cx="941832" cy="0"/>
            </a:xfrm>
            <a:prstGeom prst="line">
              <a:avLst/>
            </a:prstGeom>
            <a:ln w="15240">
              <a:solidFill>
                <a:srgbClr val="0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or 27"/>
            <p:cNvCxnSpPr/>
            <p:nvPr/>
          </p:nvCxnSpPr>
          <p:spPr>
            <a:xfrm>
              <a:off x="8968303" y="5065775"/>
              <a:ext cx="530352" cy="0"/>
            </a:xfrm>
            <a:prstGeom prst="line">
              <a:avLst/>
            </a:prstGeom>
            <a:ln w="25400">
              <a:solidFill>
                <a:srgbClr val="30303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or 28"/>
            <p:cNvCxnSpPr/>
            <p:nvPr/>
          </p:nvCxnSpPr>
          <p:spPr>
            <a:xfrm>
              <a:off x="8556823" y="5449823"/>
              <a:ext cx="941832" cy="0"/>
            </a:xfrm>
            <a:prstGeom prst="line">
              <a:avLst/>
            </a:prstGeom>
            <a:ln w="15240">
              <a:solidFill>
                <a:srgbClr val="0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 29"/>
            <p:cNvCxnSpPr/>
            <p:nvPr/>
          </p:nvCxnSpPr>
          <p:spPr>
            <a:xfrm>
              <a:off x="8968303" y="5614415"/>
              <a:ext cx="530352" cy="0"/>
            </a:xfrm>
            <a:prstGeom prst="line">
              <a:avLst/>
            </a:prstGeom>
            <a:ln w="25400">
              <a:solidFill>
                <a:srgbClr val="30303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or 30"/>
            <p:cNvCxnSpPr/>
            <p:nvPr/>
          </p:nvCxnSpPr>
          <p:spPr>
            <a:xfrm>
              <a:off x="8556823" y="5998463"/>
              <a:ext cx="941832" cy="0"/>
            </a:xfrm>
            <a:prstGeom prst="line">
              <a:avLst/>
            </a:prstGeom>
            <a:ln w="15240">
              <a:solidFill>
                <a:srgbClr val="0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or 31"/>
            <p:cNvCxnSpPr/>
            <p:nvPr/>
          </p:nvCxnSpPr>
          <p:spPr>
            <a:xfrm>
              <a:off x="8968303" y="6163055"/>
              <a:ext cx="530352" cy="0"/>
            </a:xfrm>
            <a:prstGeom prst="line">
              <a:avLst/>
            </a:prstGeom>
            <a:ln w="25400">
              <a:solidFill>
                <a:srgbClr val="30303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Rectangle 34"/>
            <p:cNvSpPr/>
            <p:nvPr/>
          </p:nvSpPr>
          <p:spPr>
            <a:xfrm>
              <a:off x="1397072" y="1874520"/>
              <a:ext cx="5852159" cy="3291839"/>
            </a:xfrm>
            <a:prstGeom prst="rect">
              <a:avLst/>
            </a:prstGeom>
            <a:noFill/>
            <a:ln w="20320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 algn="ctr"/>
              <a:endParaRPr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506800" y="1929384"/>
              <a:ext cx="2743200" cy="237744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r>
                <a:rPr lang="en-US" altLang="zh-TW" sz="1400" b="1" dirty="0">
                  <a:latin typeface="Times New Roman"/>
                </a:rPr>
                <a:t>Function Switch Controller</a:t>
              </a:r>
              <a:endParaRPr sz="1300" b="1" i="0" dirty="0">
                <a:latin typeface="Times New Roman"/>
              </a:endParaRP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1991432" y="2286000"/>
              <a:ext cx="1143000" cy="548640"/>
            </a:xfrm>
            <a:prstGeom prst="roundRect">
              <a:avLst/>
            </a:prstGeom>
            <a:solidFill>
              <a:srgbClr val="FFF2CC"/>
            </a:solidFill>
            <a:ln w="15240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 algn="ctr"/>
              <a:r>
                <a:rPr sz="1300" b="1" dirty="0">
                  <a:solidFill>
                    <a:srgbClr val="000000"/>
                  </a:solidFill>
                  <a:latin typeface="Times New Roman"/>
                </a:rPr>
                <a:t>AW latch</a:t>
              </a:r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1991432" y="3520440"/>
              <a:ext cx="1143000" cy="822960"/>
            </a:xfrm>
            <a:prstGeom prst="roundRect">
              <a:avLst/>
            </a:prstGeom>
            <a:solidFill>
              <a:srgbClr val="FFF2CC"/>
            </a:solidFill>
            <a:ln w="15240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 algn="ctr"/>
              <a:r>
                <a:rPr sz="1300" b="1">
                  <a:solidFill>
                    <a:srgbClr val="000000"/>
                  </a:solidFill>
                  <a:latin typeface="Times New Roman"/>
                </a:rPr>
                <a:t>Write FSM</a:t>
              </a: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3637352" y="2286000"/>
              <a:ext cx="1417320" cy="548640"/>
            </a:xfrm>
            <a:prstGeom prst="roundRect">
              <a:avLst/>
            </a:prstGeom>
            <a:solidFill>
              <a:srgbClr val="FFFFFF"/>
            </a:solidFill>
            <a:ln w="15240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 algn="ctr"/>
              <a:r>
                <a:rPr sz="1150" b="1">
                  <a:solidFill>
                    <a:srgbClr val="000000"/>
                  </a:solidFill>
                  <a:latin typeface="Times New Roman"/>
                </a:rPr>
                <a:t>Unit decode</a:t>
              </a:r>
            </a:p>
            <a:p>
              <a:pPr algn="ctr"/>
              <a:r>
                <a:rPr sz="1150" b="1">
                  <a:solidFill>
                    <a:srgbClr val="000000"/>
                  </a:solidFill>
                  <a:latin typeface="Times New Roman"/>
                </a:rPr>
                <a:t>a[15:13]</a:t>
              </a:r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3637352" y="3063240"/>
              <a:ext cx="1417320" cy="548640"/>
            </a:xfrm>
            <a:prstGeom prst="roundRect">
              <a:avLst/>
            </a:prstGeom>
            <a:solidFill>
              <a:srgbClr val="FFFFFF"/>
            </a:solidFill>
            <a:ln w="15240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 algn="ctr"/>
              <a:r>
                <a:rPr sz="1150" b="1">
                  <a:solidFill>
                    <a:srgbClr val="000000"/>
                  </a:solidFill>
                  <a:latin typeface="Times New Roman"/>
                </a:rPr>
                <a:t>Unit-0 split</a:t>
              </a:r>
            </a:p>
            <a:p>
              <a:pPr algn="ctr"/>
              <a:r>
                <a:rPr sz="1150" b="1">
                  <a:solidFill>
                    <a:srgbClr val="000000"/>
                  </a:solidFill>
                  <a:latin typeface="Times New Roman"/>
                </a:rPr>
                <a:t>a[12]</a:t>
              </a:r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3637352" y="3840480"/>
              <a:ext cx="1417320" cy="548640"/>
            </a:xfrm>
            <a:prstGeom prst="roundRect">
              <a:avLst/>
            </a:prstGeom>
            <a:solidFill>
              <a:srgbClr val="FFFFFF"/>
            </a:solidFill>
            <a:ln w="15240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 algn="ctr"/>
              <a:r>
                <a:rPr sz="1150" b="1">
                  <a:solidFill>
                    <a:srgbClr val="000000"/>
                  </a:solidFill>
                  <a:latin typeface="Times New Roman"/>
                </a:rPr>
                <a:t>Word slice</a:t>
              </a:r>
            </a:p>
            <a:p>
              <a:pPr algn="ctr"/>
              <a:r>
                <a:rPr sz="1150" b="1">
                  <a:solidFill>
                    <a:srgbClr val="000000"/>
                  </a:solidFill>
                  <a:latin typeface="Times New Roman"/>
                </a:rPr>
                <a:t>a[12:2]</a:t>
              </a:r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5649032" y="2377440"/>
              <a:ext cx="1234440" cy="1554480"/>
            </a:xfrm>
            <a:prstGeom prst="roundRect">
              <a:avLst/>
            </a:prstGeom>
            <a:solidFill>
              <a:srgbClr val="FBD9B5"/>
            </a:solidFill>
            <a:ln w="15240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 algn="ctr"/>
              <a:r>
                <a:rPr sz="1300" b="1">
                  <a:solidFill>
                    <a:srgbClr val="000000"/>
                  </a:solidFill>
                  <a:latin typeface="Times New Roman"/>
                </a:rPr>
                <a:t>WE demux</a:t>
              </a:r>
            </a:p>
            <a:p>
              <a:pPr algn="ctr"/>
              <a:r>
                <a:rPr sz="1300" b="1">
                  <a:solidFill>
                    <a:srgbClr val="000000"/>
                  </a:solidFill>
                  <a:latin typeface="Times New Roman"/>
                </a:rPr>
                <a:t>1-of-9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41457" y="2272937"/>
              <a:ext cx="777240" cy="237744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 algn="l"/>
              <a:r>
                <a:rPr sz="900" b="1" i="0" dirty="0">
                  <a:latin typeface="Times New Roman"/>
                </a:rPr>
                <a:t>AWADDR[15:0]</a:t>
              </a:r>
            </a:p>
          </p:txBody>
        </p:sp>
        <p:cxnSp>
          <p:nvCxnSpPr>
            <p:cNvPr id="44" name="Connector 43"/>
            <p:cNvCxnSpPr/>
            <p:nvPr/>
          </p:nvCxnSpPr>
          <p:spPr>
            <a:xfrm>
              <a:off x="628976" y="2560320"/>
              <a:ext cx="1344168" cy="0"/>
            </a:xfrm>
            <a:prstGeom prst="line">
              <a:avLst/>
            </a:prstGeom>
            <a:ln w="17780">
              <a:solidFill>
                <a:srgbClr val="0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/>
            <p:cNvSpPr txBox="1"/>
            <p:nvPr/>
          </p:nvSpPr>
          <p:spPr>
            <a:xfrm>
              <a:off x="546681" y="3044952"/>
              <a:ext cx="777240" cy="237744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 algn="l"/>
              <a:r>
                <a:rPr sz="900" b="1" i="0" dirty="0">
                  <a:latin typeface="Times New Roman"/>
                </a:rPr>
                <a:t>AWVALID</a:t>
              </a:r>
            </a:p>
          </p:txBody>
        </p:sp>
        <p:cxnSp>
          <p:nvCxnSpPr>
            <p:cNvPr id="46" name="Connector 45"/>
            <p:cNvCxnSpPr/>
            <p:nvPr/>
          </p:nvCxnSpPr>
          <p:spPr>
            <a:xfrm>
              <a:off x="628976" y="3291840"/>
              <a:ext cx="1042416" cy="0"/>
            </a:xfrm>
            <a:prstGeom prst="line">
              <a:avLst/>
            </a:prstGeom>
            <a:ln w="1778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ctor 46"/>
            <p:cNvCxnSpPr/>
            <p:nvPr/>
          </p:nvCxnSpPr>
          <p:spPr>
            <a:xfrm>
              <a:off x="1671392" y="3291840"/>
              <a:ext cx="0" cy="365760"/>
            </a:xfrm>
            <a:prstGeom prst="line">
              <a:avLst/>
            </a:prstGeom>
            <a:ln w="1778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ctor 47"/>
            <p:cNvCxnSpPr/>
            <p:nvPr/>
          </p:nvCxnSpPr>
          <p:spPr>
            <a:xfrm>
              <a:off x="1671392" y="3657600"/>
              <a:ext cx="301752" cy="0"/>
            </a:xfrm>
            <a:prstGeom prst="line">
              <a:avLst/>
            </a:prstGeom>
            <a:ln w="17780">
              <a:solidFill>
                <a:srgbClr val="0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/>
            <p:cNvSpPr txBox="1"/>
            <p:nvPr/>
          </p:nvSpPr>
          <p:spPr>
            <a:xfrm>
              <a:off x="551253" y="3822192"/>
              <a:ext cx="777240" cy="237744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 algn="l"/>
              <a:r>
                <a:rPr sz="900" b="1" i="0">
                  <a:latin typeface="Times New Roman"/>
                </a:rPr>
                <a:t>WVALID</a:t>
              </a:r>
            </a:p>
          </p:txBody>
        </p:sp>
        <p:cxnSp>
          <p:nvCxnSpPr>
            <p:cNvPr id="50" name="Connector 49"/>
            <p:cNvCxnSpPr/>
            <p:nvPr/>
          </p:nvCxnSpPr>
          <p:spPr>
            <a:xfrm>
              <a:off x="628976" y="4069080"/>
              <a:ext cx="1344168" cy="0"/>
            </a:xfrm>
            <a:prstGeom prst="line">
              <a:avLst/>
            </a:prstGeom>
            <a:ln w="17780">
              <a:solidFill>
                <a:srgbClr val="0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/>
            <p:cNvSpPr txBox="1"/>
            <p:nvPr/>
          </p:nvSpPr>
          <p:spPr>
            <a:xfrm>
              <a:off x="541457" y="4410673"/>
              <a:ext cx="777240" cy="237744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 algn="l"/>
              <a:r>
                <a:rPr sz="900" b="1" i="0">
                  <a:latin typeface="Times New Roman"/>
                </a:rPr>
                <a:t>WDATA[31:0]</a:t>
              </a:r>
            </a:p>
          </p:txBody>
        </p:sp>
        <p:cxnSp>
          <p:nvCxnSpPr>
            <p:cNvPr id="52" name="Connector 51"/>
            <p:cNvCxnSpPr/>
            <p:nvPr/>
          </p:nvCxnSpPr>
          <p:spPr>
            <a:xfrm>
              <a:off x="628976" y="4663440"/>
              <a:ext cx="1179576" cy="0"/>
            </a:xfrm>
            <a:prstGeom prst="line">
              <a:avLst/>
            </a:prstGeom>
            <a:ln w="1778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nector 52"/>
            <p:cNvCxnSpPr/>
            <p:nvPr/>
          </p:nvCxnSpPr>
          <p:spPr>
            <a:xfrm>
              <a:off x="1808552" y="4663440"/>
              <a:ext cx="0" cy="301752"/>
            </a:xfrm>
            <a:prstGeom prst="line">
              <a:avLst/>
            </a:prstGeom>
            <a:ln w="1778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nector 53"/>
            <p:cNvCxnSpPr/>
            <p:nvPr/>
          </p:nvCxnSpPr>
          <p:spPr>
            <a:xfrm>
              <a:off x="1808552" y="4965192"/>
              <a:ext cx="5184648" cy="0"/>
            </a:xfrm>
            <a:prstGeom prst="line">
              <a:avLst/>
            </a:prstGeom>
            <a:ln w="1778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/>
            <p:cNvSpPr txBox="1"/>
            <p:nvPr/>
          </p:nvSpPr>
          <p:spPr>
            <a:xfrm>
              <a:off x="962732" y="5511216"/>
              <a:ext cx="777240" cy="237744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 algn="l"/>
              <a:r>
                <a:rPr sz="900" b="1" i="0" dirty="0">
                  <a:latin typeface="Times New Roman"/>
                </a:rPr>
                <a:t>BRESP</a:t>
              </a:r>
            </a:p>
          </p:txBody>
        </p:sp>
        <p:cxnSp>
          <p:nvCxnSpPr>
            <p:cNvPr id="56" name="Connector 55"/>
            <p:cNvCxnSpPr/>
            <p:nvPr/>
          </p:nvCxnSpPr>
          <p:spPr>
            <a:xfrm>
              <a:off x="2402912" y="4361688"/>
              <a:ext cx="0" cy="941832"/>
            </a:xfrm>
            <a:prstGeom prst="line">
              <a:avLst/>
            </a:prstGeom>
            <a:ln w="1778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nector 56"/>
            <p:cNvCxnSpPr/>
            <p:nvPr/>
          </p:nvCxnSpPr>
          <p:spPr>
            <a:xfrm flipH="1">
              <a:off x="1077032" y="5303520"/>
              <a:ext cx="1325880" cy="0"/>
            </a:xfrm>
            <a:prstGeom prst="line">
              <a:avLst/>
            </a:prstGeom>
            <a:ln w="17780">
              <a:solidFill>
                <a:srgbClr val="0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nector 57"/>
            <p:cNvCxnSpPr/>
            <p:nvPr/>
          </p:nvCxnSpPr>
          <p:spPr>
            <a:xfrm>
              <a:off x="3134432" y="2560320"/>
              <a:ext cx="484632" cy="0"/>
            </a:xfrm>
            <a:prstGeom prst="line">
              <a:avLst/>
            </a:prstGeom>
            <a:ln w="17780">
              <a:solidFill>
                <a:srgbClr val="0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/>
            <p:cNvSpPr txBox="1"/>
            <p:nvPr/>
          </p:nvSpPr>
          <p:spPr>
            <a:xfrm>
              <a:off x="3221300" y="2338251"/>
              <a:ext cx="365760" cy="237744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 algn="l"/>
              <a:r>
                <a:rPr sz="950" b="0" i="0" dirty="0">
                  <a:latin typeface="Times New Roman"/>
                </a:rPr>
                <a:t>16</a:t>
              </a:r>
            </a:p>
          </p:txBody>
        </p:sp>
        <p:cxnSp>
          <p:nvCxnSpPr>
            <p:cNvPr id="60" name="Connector 59"/>
            <p:cNvCxnSpPr/>
            <p:nvPr/>
          </p:nvCxnSpPr>
          <p:spPr>
            <a:xfrm>
              <a:off x="3408752" y="2560320"/>
              <a:ext cx="0" cy="777240"/>
            </a:xfrm>
            <a:prstGeom prst="line">
              <a:avLst/>
            </a:prstGeom>
            <a:ln w="1778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or 60"/>
            <p:cNvCxnSpPr/>
            <p:nvPr/>
          </p:nvCxnSpPr>
          <p:spPr>
            <a:xfrm>
              <a:off x="3408752" y="3337560"/>
              <a:ext cx="210312" cy="0"/>
            </a:xfrm>
            <a:prstGeom prst="line">
              <a:avLst/>
            </a:prstGeom>
            <a:ln w="17780">
              <a:solidFill>
                <a:srgbClr val="0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ctor 61"/>
            <p:cNvCxnSpPr/>
            <p:nvPr/>
          </p:nvCxnSpPr>
          <p:spPr>
            <a:xfrm>
              <a:off x="3408752" y="3337560"/>
              <a:ext cx="0" cy="777240"/>
            </a:xfrm>
            <a:prstGeom prst="line">
              <a:avLst/>
            </a:prstGeom>
            <a:ln w="1778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or 62"/>
            <p:cNvCxnSpPr/>
            <p:nvPr/>
          </p:nvCxnSpPr>
          <p:spPr>
            <a:xfrm>
              <a:off x="3408752" y="4114800"/>
              <a:ext cx="210312" cy="0"/>
            </a:xfrm>
            <a:prstGeom prst="line">
              <a:avLst/>
            </a:prstGeom>
            <a:ln w="17780">
              <a:solidFill>
                <a:srgbClr val="0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nector 63"/>
            <p:cNvCxnSpPr/>
            <p:nvPr/>
          </p:nvCxnSpPr>
          <p:spPr>
            <a:xfrm>
              <a:off x="5054672" y="2560320"/>
              <a:ext cx="274320" cy="0"/>
            </a:xfrm>
            <a:prstGeom prst="line">
              <a:avLst/>
            </a:prstGeom>
            <a:ln w="1778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nector 64"/>
            <p:cNvCxnSpPr/>
            <p:nvPr/>
          </p:nvCxnSpPr>
          <p:spPr>
            <a:xfrm>
              <a:off x="5328992" y="2560320"/>
              <a:ext cx="0" cy="274320"/>
            </a:xfrm>
            <a:prstGeom prst="line">
              <a:avLst/>
            </a:prstGeom>
            <a:ln w="1778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nector 65"/>
            <p:cNvCxnSpPr/>
            <p:nvPr/>
          </p:nvCxnSpPr>
          <p:spPr>
            <a:xfrm>
              <a:off x="5328992" y="2834640"/>
              <a:ext cx="301752" cy="0"/>
            </a:xfrm>
            <a:prstGeom prst="line">
              <a:avLst/>
            </a:prstGeom>
            <a:ln w="17780">
              <a:solidFill>
                <a:srgbClr val="0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Box 66"/>
            <p:cNvSpPr txBox="1"/>
            <p:nvPr/>
          </p:nvSpPr>
          <p:spPr>
            <a:xfrm>
              <a:off x="5135008" y="2331720"/>
              <a:ext cx="274320" cy="237744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 algn="l"/>
              <a:r>
                <a:rPr sz="950" b="0" i="0" dirty="0">
                  <a:latin typeface="Times New Roman"/>
                </a:rPr>
                <a:t>3</a:t>
              </a:r>
            </a:p>
          </p:txBody>
        </p:sp>
        <p:cxnSp>
          <p:nvCxnSpPr>
            <p:cNvPr id="68" name="Connector 67"/>
            <p:cNvCxnSpPr/>
            <p:nvPr/>
          </p:nvCxnSpPr>
          <p:spPr>
            <a:xfrm>
              <a:off x="5054672" y="3337560"/>
              <a:ext cx="576072" cy="0"/>
            </a:xfrm>
            <a:prstGeom prst="line">
              <a:avLst/>
            </a:prstGeom>
            <a:ln w="17780">
              <a:solidFill>
                <a:srgbClr val="0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nector 68"/>
            <p:cNvCxnSpPr/>
            <p:nvPr/>
          </p:nvCxnSpPr>
          <p:spPr>
            <a:xfrm>
              <a:off x="3134432" y="3931920"/>
              <a:ext cx="182880" cy="0"/>
            </a:xfrm>
            <a:prstGeom prst="line">
              <a:avLst/>
            </a:prstGeom>
            <a:ln w="1778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nector 69"/>
            <p:cNvCxnSpPr/>
            <p:nvPr/>
          </p:nvCxnSpPr>
          <p:spPr>
            <a:xfrm>
              <a:off x="3317312" y="3931920"/>
              <a:ext cx="0" cy="704088"/>
            </a:xfrm>
            <a:prstGeom prst="line">
              <a:avLst/>
            </a:prstGeom>
            <a:ln w="1778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nector 70"/>
            <p:cNvCxnSpPr/>
            <p:nvPr/>
          </p:nvCxnSpPr>
          <p:spPr>
            <a:xfrm>
              <a:off x="3317312" y="4636008"/>
              <a:ext cx="2926080" cy="0"/>
            </a:xfrm>
            <a:prstGeom prst="line">
              <a:avLst/>
            </a:prstGeom>
            <a:ln w="1778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nector 71"/>
            <p:cNvCxnSpPr/>
            <p:nvPr/>
          </p:nvCxnSpPr>
          <p:spPr>
            <a:xfrm flipV="1">
              <a:off x="6243392" y="3950207"/>
              <a:ext cx="0" cy="685801"/>
            </a:xfrm>
            <a:prstGeom prst="line">
              <a:avLst/>
            </a:prstGeom>
            <a:ln w="17780">
              <a:solidFill>
                <a:srgbClr val="0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nector 73"/>
            <p:cNvCxnSpPr/>
            <p:nvPr/>
          </p:nvCxnSpPr>
          <p:spPr>
            <a:xfrm>
              <a:off x="5054672" y="4114800"/>
              <a:ext cx="1938528" cy="0"/>
            </a:xfrm>
            <a:prstGeom prst="line">
              <a:avLst/>
            </a:prstGeom>
            <a:ln w="1778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or 76"/>
            <p:cNvCxnSpPr/>
            <p:nvPr/>
          </p:nvCxnSpPr>
          <p:spPr>
            <a:xfrm>
              <a:off x="6993200" y="4114800"/>
              <a:ext cx="0" cy="850392"/>
            </a:xfrm>
            <a:prstGeom prst="line">
              <a:avLst/>
            </a:prstGeom>
            <a:ln w="38100">
              <a:solidFill>
                <a:srgbClr val="30303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nector 77"/>
            <p:cNvCxnSpPr>
              <a:cxnSpLocks/>
            </p:cNvCxnSpPr>
            <p:nvPr/>
          </p:nvCxnSpPr>
          <p:spPr>
            <a:xfrm>
              <a:off x="6993200" y="4526280"/>
              <a:ext cx="1975103" cy="0"/>
            </a:xfrm>
            <a:prstGeom prst="line">
              <a:avLst/>
            </a:prstGeom>
            <a:ln w="38100">
              <a:solidFill>
                <a:srgbClr val="30303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nector 78"/>
            <p:cNvCxnSpPr/>
            <p:nvPr/>
          </p:nvCxnSpPr>
          <p:spPr>
            <a:xfrm>
              <a:off x="8968303" y="4526280"/>
              <a:ext cx="0" cy="1636775"/>
            </a:xfrm>
            <a:prstGeom prst="line">
              <a:avLst/>
            </a:prstGeom>
            <a:ln w="38100">
              <a:solidFill>
                <a:srgbClr val="30303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nector 79"/>
            <p:cNvCxnSpPr>
              <a:cxnSpLocks/>
              <a:stCxn id="42" idx="3"/>
            </p:cNvCxnSpPr>
            <p:nvPr/>
          </p:nvCxnSpPr>
          <p:spPr>
            <a:xfrm>
              <a:off x="6883472" y="3154680"/>
              <a:ext cx="1673351" cy="0"/>
            </a:xfrm>
            <a:prstGeom prst="line">
              <a:avLst/>
            </a:prstGeom>
            <a:ln w="1778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nector 80"/>
            <p:cNvCxnSpPr/>
            <p:nvPr/>
          </p:nvCxnSpPr>
          <p:spPr>
            <a:xfrm>
              <a:off x="8556823" y="3154680"/>
              <a:ext cx="0" cy="2843783"/>
            </a:xfrm>
            <a:prstGeom prst="line">
              <a:avLst/>
            </a:prstGeom>
            <a:ln w="1778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Box 81"/>
            <p:cNvSpPr txBox="1"/>
            <p:nvPr/>
          </p:nvSpPr>
          <p:spPr>
            <a:xfrm>
              <a:off x="7043491" y="2926080"/>
              <a:ext cx="640080" cy="237744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 algn="l"/>
              <a:r>
                <a:rPr sz="1000" b="1" i="0" dirty="0">
                  <a:latin typeface="Times New Roman"/>
                </a:rPr>
                <a:t>9</a:t>
              </a: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7043491" y="4118719"/>
              <a:ext cx="1828800" cy="237744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 algn="ctr"/>
              <a:r>
                <a:rPr lang="en-US" sz="1000" b="1" i="0" dirty="0">
                  <a:latin typeface="Times New Roman"/>
                </a:rPr>
                <a:t>Configuration BUS</a:t>
              </a:r>
            </a:p>
            <a:p>
              <a:pPr algn="ctr"/>
              <a:r>
                <a:rPr sz="1000" b="1" i="0" dirty="0">
                  <a:latin typeface="Times New Roman"/>
                </a:rPr>
                <a:t>(</a:t>
              </a:r>
              <a:r>
                <a:rPr sz="1000" b="1" i="0" dirty="0" err="1">
                  <a:latin typeface="Times New Roman"/>
                </a:rPr>
                <a:t>waddr·wdata</a:t>
              </a:r>
              <a:r>
                <a:rPr sz="1000" b="1" i="0" dirty="0">
                  <a:latin typeface="Times New Roman"/>
                </a:rPr>
                <a:t>)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484</TotalTime>
  <Words>96</Words>
  <Application>Microsoft Office PowerPoint</Application>
  <PresentationFormat>寬螢幕</PresentationFormat>
  <Paragraphs>31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黃柏鈞</dc:creator>
  <cp:keywords/>
  <dc:description>generated using python-pptx</dc:description>
  <cp:lastModifiedBy>barkie</cp:lastModifiedBy>
  <cp:revision>7</cp:revision>
  <dcterms:created xsi:type="dcterms:W3CDTF">2013-01-27T09:14:16Z</dcterms:created>
  <dcterms:modified xsi:type="dcterms:W3CDTF">2026-07-15T12:21:04Z</dcterms:modified>
  <cp:category/>
</cp:coreProperties>
</file>