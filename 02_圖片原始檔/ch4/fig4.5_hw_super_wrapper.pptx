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7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87349C2E-610F-39E7-BC07-44C39E08550D}"/>
              </a:ext>
            </a:extLst>
          </p:cNvPr>
          <p:cNvSpPr txBox="1"/>
          <p:nvPr/>
        </p:nvSpPr>
        <p:spPr>
          <a:xfrm>
            <a:off x="121920" y="3586797"/>
            <a:ext cx="132588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i="0" dirty="0">
                <a:solidFill>
                  <a:srgbClr val="000000"/>
                </a:solidFill>
                <a:latin typeface="Times New Roman"/>
              </a:rPr>
              <a:t>INPUT
</a:t>
            </a:r>
            <a:r>
              <a:rPr lang="en-US" sz="1900" b="1" i="0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900" b="1" i="0" dirty="0">
                <a:solidFill>
                  <a:srgbClr val="000000"/>
                </a:solidFill>
                <a:latin typeface="Times New Roman"/>
              </a:rPr>
              <a:t>tream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C65B0688-57E0-19CA-1C19-1FD66DE7A283}"/>
              </a:ext>
            </a:extLst>
          </p:cNvPr>
          <p:cNvSpPr txBox="1"/>
          <p:nvPr/>
        </p:nvSpPr>
        <p:spPr>
          <a:xfrm>
            <a:off x="10271760" y="3723957"/>
            <a:ext cx="192024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i="0" dirty="0">
                <a:solidFill>
                  <a:srgbClr val="000000"/>
                </a:solidFill>
                <a:latin typeface="Times New Roman"/>
              </a:rPr>
              <a:t>OUTPUT
</a:t>
            </a:r>
            <a:r>
              <a:rPr lang="en-US" sz="1900" b="1" i="0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900" b="1" i="0" dirty="0">
                <a:solidFill>
                  <a:srgbClr val="000000"/>
                </a:solidFill>
                <a:latin typeface="Times New Roman"/>
              </a:rPr>
              <a:t>tream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65DE85-78BF-1A37-6E5C-A8FD43EF117F}"/>
              </a:ext>
            </a:extLst>
          </p:cNvPr>
          <p:cNvSpPr/>
          <p:nvPr/>
        </p:nvSpPr>
        <p:spPr>
          <a:xfrm>
            <a:off x="1493520" y="2672397"/>
            <a:ext cx="85496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D2449E3-16CC-B11B-EA42-25662AE37D8E}"/>
              </a:ext>
            </a:extLst>
          </p:cNvPr>
          <p:cNvSpPr txBox="1"/>
          <p:nvPr/>
        </p:nvSpPr>
        <p:spPr>
          <a:xfrm>
            <a:off x="1630680" y="2736405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1" dirty="0">
                <a:solidFill>
                  <a:srgbClr val="000000"/>
                </a:solidFill>
                <a:latin typeface="Times New Roman"/>
              </a:rPr>
              <a:t>Super Wrapper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B21F871-107E-2CAE-6D3A-3A0B270567AA}"/>
              </a:ext>
            </a:extLst>
          </p:cNvPr>
          <p:cNvCxnSpPr>
            <a:cxnSpLocks/>
          </p:cNvCxnSpPr>
          <p:nvPr/>
        </p:nvCxnSpPr>
        <p:spPr>
          <a:xfrm>
            <a:off x="1236133" y="3861117"/>
            <a:ext cx="623147" cy="0"/>
          </a:xfrm>
          <a:prstGeom prst="line">
            <a:avLst/>
          </a:prstGeom>
          <a:ln w="444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70575C4-86F3-233D-C4BA-D89C4B62BE43}"/>
              </a:ext>
            </a:extLst>
          </p:cNvPr>
          <p:cNvSpPr/>
          <p:nvPr/>
        </p:nvSpPr>
        <p:spPr>
          <a:xfrm>
            <a:off x="1844887" y="3074733"/>
            <a:ext cx="960120" cy="2212180"/>
          </a:xfrm>
          <a:prstGeom prst="rect">
            <a:avLst/>
          </a:prstGeom>
          <a:solidFill>
            <a:srgbClr val="BDD7EE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Times New Roman"/>
              </a:rPr>
              <a:t>Splitter</a:t>
            </a:r>
          </a:p>
          <a:p>
            <a:pPr algn="ctr"/>
            <a:r>
              <a:rPr lang="en-US" sz="1400" i="1" dirty="0">
                <a:solidFill>
                  <a:srgbClr val="000000"/>
                </a:solidFill>
                <a:latin typeface="Times New Roman"/>
              </a:rPr>
              <a:t>D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uplicate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C1CB11-163F-BF29-9388-E12D5CED4495}"/>
              </a:ext>
            </a:extLst>
          </p:cNvPr>
          <p:cNvSpPr/>
          <p:nvPr/>
        </p:nvSpPr>
        <p:spPr>
          <a:xfrm>
            <a:off x="3459480" y="3073590"/>
            <a:ext cx="2331720" cy="914400"/>
          </a:xfrm>
          <a:prstGeom prst="rect">
            <a:avLst/>
          </a:prstGeom>
          <a:solidFill>
            <a:srgbClr val="C6E0B4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Modified </a:t>
            </a:r>
            <a:r>
              <a:rPr b="1" dirty="0">
                <a:solidFill>
                  <a:srgbClr val="000000"/>
                </a:solidFill>
                <a:latin typeface="Times New Roman"/>
              </a:rPr>
              <a:t>MVAU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 Core</a:t>
            </a:r>
            <a:endParaRPr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sz="1400" i="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inary </a:t>
            </a:r>
            <a:r>
              <a:rPr lang="en-US" sz="140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onv (XNOR-</a:t>
            </a:r>
            <a:r>
              <a:rPr lang="en-US" sz="1400" i="1" dirty="0" err="1">
                <a:solidFill>
                  <a:srgbClr val="000000"/>
                </a:solidFill>
                <a:latin typeface="Times New Roman"/>
              </a:rPr>
              <a:t>P</a:t>
            </a:r>
            <a:r>
              <a:rPr sz="1400" i="1" dirty="0" err="1">
                <a:solidFill>
                  <a:srgbClr val="000000"/>
                </a:solidFill>
                <a:latin typeface="Times New Roman"/>
              </a:rPr>
              <a:t>opcount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115F93A-4183-FAFC-9F17-D21D7C98B8EA}"/>
              </a:ext>
            </a:extLst>
          </p:cNvPr>
          <p:cNvSpPr/>
          <p:nvPr/>
        </p:nvSpPr>
        <p:spPr>
          <a:xfrm>
            <a:off x="6134099" y="4413188"/>
            <a:ext cx="960120" cy="914400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Times New Roman"/>
              </a:rPr>
              <a:t>FIFO</a:t>
            </a:r>
          </a:p>
          <a:p>
            <a:pPr algn="ctr"/>
            <a:r>
              <a:rPr lang="en-US" sz="1400" i="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ync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BC860E2-5212-3E8C-F1BD-2F4BADCF63D4}"/>
              </a:ext>
            </a:extLst>
          </p:cNvPr>
          <p:cNvSpPr/>
          <p:nvPr/>
        </p:nvSpPr>
        <p:spPr>
          <a:xfrm>
            <a:off x="7757160" y="3074733"/>
            <a:ext cx="1874519" cy="221218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Times New Roman"/>
              </a:rPr>
              <a:t>Adder + Threshold</a:t>
            </a:r>
          </a:p>
          <a:p>
            <a:pPr algn="ctr"/>
            <a:r>
              <a:rPr lang="en-US" sz="1100" i="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100" i="1" dirty="0">
                <a:solidFill>
                  <a:srgbClr val="000000"/>
                </a:solidFill>
                <a:latin typeface="Times New Roman"/>
              </a:rPr>
              <a:t>um </a:t>
            </a:r>
            <a:r>
              <a:rPr lang="en-US" sz="1100" i="1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sz="1100" i="1" dirty="0">
                <a:solidFill>
                  <a:srgbClr val="000000"/>
                </a:solidFill>
                <a:latin typeface="Times New Roman"/>
              </a:rPr>
              <a:t>wo </a:t>
            </a:r>
            <a:r>
              <a:rPr lang="en-US" sz="1100" i="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100" i="1" dirty="0">
                <a:solidFill>
                  <a:srgbClr val="000000"/>
                </a:solidFill>
                <a:latin typeface="Times New Roman"/>
              </a:rPr>
              <a:t>treams → 1-bit out</a:t>
            </a:r>
          </a:p>
        </p:txBody>
      </p: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AB8B2565-9888-BE8B-C6BE-1806A0624CA0}"/>
              </a:ext>
            </a:extLst>
          </p:cNvPr>
          <p:cNvCxnSpPr>
            <a:cxnSpLocks/>
          </p:cNvCxnSpPr>
          <p:nvPr/>
        </p:nvCxnSpPr>
        <p:spPr>
          <a:xfrm>
            <a:off x="2805007" y="3403916"/>
            <a:ext cx="654473" cy="0"/>
          </a:xfrm>
          <a:prstGeom prst="line">
            <a:avLst/>
          </a:prstGeom>
          <a:ln w="317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3">
            <a:extLst>
              <a:ext uri="{FF2B5EF4-FFF2-40B4-BE49-F238E27FC236}">
                <a16:creationId xmlns:a16="http://schemas.microsoft.com/office/drawing/2014/main" id="{8079F894-9F36-DC75-EE57-74C125A3C352}"/>
              </a:ext>
            </a:extLst>
          </p:cNvPr>
          <p:cNvCxnSpPr>
            <a:cxnSpLocks/>
          </p:cNvCxnSpPr>
          <p:nvPr/>
        </p:nvCxnSpPr>
        <p:spPr>
          <a:xfrm>
            <a:off x="2805006" y="4854850"/>
            <a:ext cx="654473" cy="4572"/>
          </a:xfrm>
          <a:prstGeom prst="line">
            <a:avLst/>
          </a:prstGeom>
          <a:ln w="317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4">
            <a:extLst>
              <a:ext uri="{FF2B5EF4-FFF2-40B4-BE49-F238E27FC236}">
                <a16:creationId xmlns:a16="http://schemas.microsoft.com/office/drawing/2014/main" id="{37C741BE-A978-6466-EF2C-2E00CD737C8D}"/>
              </a:ext>
            </a:extLst>
          </p:cNvPr>
          <p:cNvCxnSpPr>
            <a:cxnSpLocks/>
          </p:cNvCxnSpPr>
          <p:nvPr/>
        </p:nvCxnSpPr>
        <p:spPr>
          <a:xfrm>
            <a:off x="5791200" y="3403916"/>
            <a:ext cx="1965960" cy="0"/>
          </a:xfrm>
          <a:prstGeom prst="line">
            <a:avLst/>
          </a:prstGeom>
          <a:ln w="317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6">
            <a:extLst>
              <a:ext uri="{FF2B5EF4-FFF2-40B4-BE49-F238E27FC236}">
                <a16:creationId xmlns:a16="http://schemas.microsoft.com/office/drawing/2014/main" id="{88631845-13E6-A6BF-A851-8C857AB69FB0}"/>
              </a:ext>
            </a:extLst>
          </p:cNvPr>
          <p:cNvCxnSpPr>
            <a:cxnSpLocks/>
          </p:cNvCxnSpPr>
          <p:nvPr/>
        </p:nvCxnSpPr>
        <p:spPr>
          <a:xfrm>
            <a:off x="7094219" y="4854850"/>
            <a:ext cx="662941" cy="0"/>
          </a:xfrm>
          <a:prstGeom prst="line">
            <a:avLst/>
          </a:prstGeom>
          <a:ln w="317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7">
            <a:extLst>
              <a:ext uri="{FF2B5EF4-FFF2-40B4-BE49-F238E27FC236}">
                <a16:creationId xmlns:a16="http://schemas.microsoft.com/office/drawing/2014/main" id="{F8C6E38E-DFDA-5971-6240-A14749B1141E}"/>
              </a:ext>
            </a:extLst>
          </p:cNvPr>
          <p:cNvCxnSpPr>
            <a:cxnSpLocks/>
          </p:cNvCxnSpPr>
          <p:nvPr/>
        </p:nvCxnSpPr>
        <p:spPr>
          <a:xfrm>
            <a:off x="9631680" y="4043997"/>
            <a:ext cx="968587" cy="0"/>
          </a:xfrm>
          <a:prstGeom prst="line">
            <a:avLst/>
          </a:prstGeom>
          <a:ln w="444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7">
            <a:extLst>
              <a:ext uri="{FF2B5EF4-FFF2-40B4-BE49-F238E27FC236}">
                <a16:creationId xmlns:a16="http://schemas.microsoft.com/office/drawing/2014/main" id="{FAD66611-6687-92A1-4214-573F28F2A139}"/>
              </a:ext>
            </a:extLst>
          </p:cNvPr>
          <p:cNvSpPr/>
          <p:nvPr/>
        </p:nvSpPr>
        <p:spPr>
          <a:xfrm>
            <a:off x="3704923" y="4112577"/>
            <a:ext cx="1874519" cy="868680"/>
          </a:xfrm>
          <a:prstGeom prst="rect">
            <a:avLst/>
          </a:prstGeom>
          <a:solidFill>
            <a:srgbClr val="F8CBA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0DBCCE39-53C1-BA5C-2C98-254E93A9EEDD}"/>
              </a:ext>
            </a:extLst>
          </p:cNvPr>
          <p:cNvSpPr/>
          <p:nvPr/>
        </p:nvSpPr>
        <p:spPr>
          <a:xfrm>
            <a:off x="3567764" y="4249737"/>
            <a:ext cx="1874519" cy="868680"/>
          </a:xfrm>
          <a:prstGeom prst="rect">
            <a:avLst/>
          </a:prstGeom>
          <a:solidFill>
            <a:srgbClr val="F8CBA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endParaRPr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4F152FDC-B3C1-B842-D712-47DE79AF32B1}"/>
              </a:ext>
            </a:extLst>
          </p:cNvPr>
          <p:cNvSpPr/>
          <p:nvPr/>
        </p:nvSpPr>
        <p:spPr>
          <a:xfrm>
            <a:off x="3430604" y="4386897"/>
            <a:ext cx="1874519" cy="868680"/>
          </a:xfrm>
          <a:prstGeom prst="rect">
            <a:avLst/>
          </a:prstGeom>
          <a:solidFill>
            <a:srgbClr val="F4B18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Times New Roman"/>
              </a:rPr>
              <a:t>Adapter</a:t>
            </a:r>
          </a:p>
          <a:p>
            <a:pPr algn="ctr"/>
            <a:r>
              <a:rPr lang="en-US" sz="1400" i="1" dirty="0" err="1">
                <a:solidFill>
                  <a:srgbClr val="000000"/>
                </a:solidFill>
                <a:latin typeface="Times New Roman"/>
              </a:rPr>
              <a:t>D</a:t>
            </a:r>
            <a:r>
              <a:rPr sz="1400" i="1" dirty="0" err="1">
                <a:solidFill>
                  <a:srgbClr val="000000"/>
                </a:solidFill>
                <a:latin typeface="Times New Roman"/>
              </a:rPr>
              <a:t>own→</a:t>
            </a:r>
            <a:r>
              <a:rPr lang="en-US" sz="1400" i="1" dirty="0" err="1">
                <a:solidFill>
                  <a:srgbClr val="000000"/>
                </a:solidFill>
                <a:latin typeface="Times New Roman"/>
              </a:rPr>
              <a:t>S</a:t>
            </a:r>
            <a:r>
              <a:rPr sz="1400" i="1" dirty="0" err="1">
                <a:solidFill>
                  <a:srgbClr val="000000"/>
                </a:solidFill>
                <a:latin typeface="Times New Roman"/>
              </a:rPr>
              <a:t>ign→</a:t>
            </a:r>
            <a:r>
              <a:rPr lang="en-US" sz="1400" i="1" dirty="0" err="1">
                <a:solidFill>
                  <a:srgbClr val="000000"/>
                </a:solidFill>
                <a:latin typeface="Times New Roman"/>
              </a:rPr>
              <a:t>U</a:t>
            </a:r>
            <a:r>
              <a:rPr sz="1400" i="1" dirty="0" err="1">
                <a:solidFill>
                  <a:srgbClr val="000000"/>
                </a:solidFill>
                <a:latin typeface="Times New Roman"/>
              </a:rPr>
              <a:t>p</a:t>
            </a:r>
            <a:r>
              <a:rPr sz="1400" i="1" dirty="0">
                <a:solidFill>
                  <a:srgbClr val="000000"/>
                </a:solidFill>
                <a:latin typeface="Times New Roman"/>
              </a:rPr>
              <a:t>, +RC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EC6D5329-86B6-6A90-3DC3-BB35F027B2FD}"/>
              </a:ext>
            </a:extLst>
          </p:cNvPr>
          <p:cNvSpPr txBox="1"/>
          <p:nvPr/>
        </p:nvSpPr>
        <p:spPr>
          <a:xfrm>
            <a:off x="2467429" y="5364287"/>
            <a:ext cx="391885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TW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Adapter — M parallel branches (M = 1–4)</a:t>
            </a:r>
            <a:endParaRPr sz="12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nector 16">
            <a:extLst>
              <a:ext uri="{FF2B5EF4-FFF2-40B4-BE49-F238E27FC236}">
                <a16:creationId xmlns:a16="http://schemas.microsoft.com/office/drawing/2014/main" id="{F3780FAA-A7B6-410F-309F-280141955BD7}"/>
              </a:ext>
            </a:extLst>
          </p:cNvPr>
          <p:cNvCxnSpPr>
            <a:cxnSpLocks/>
          </p:cNvCxnSpPr>
          <p:nvPr/>
        </p:nvCxnSpPr>
        <p:spPr>
          <a:xfrm>
            <a:off x="5305123" y="4828522"/>
            <a:ext cx="777241" cy="0"/>
          </a:xfrm>
          <a:prstGeom prst="line">
            <a:avLst/>
          </a:prstGeom>
          <a:ln w="31750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71</Words>
  <Application>Microsoft Office PowerPoint</Application>
  <PresentationFormat>自訂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7</cp:revision>
  <dcterms:created xsi:type="dcterms:W3CDTF">2013-01-27T09:14:16Z</dcterms:created>
  <dcterms:modified xsi:type="dcterms:W3CDTF">2026-07-19T05:39:42Z</dcterms:modified>
  <cp:category/>
</cp:coreProperties>
</file>