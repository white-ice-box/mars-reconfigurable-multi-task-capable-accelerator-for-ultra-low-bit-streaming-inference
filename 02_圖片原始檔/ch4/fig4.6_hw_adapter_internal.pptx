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7" d="100"/>
          <a:sy n="117" d="100"/>
        </p:scale>
        <p:origin x="56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1">
            <a:extLst>
              <a:ext uri="{FF2B5EF4-FFF2-40B4-BE49-F238E27FC236}">
                <a16:creationId xmlns:a16="http://schemas.microsoft.com/office/drawing/2014/main" id="{2ADB1CCD-90CC-884C-D6DC-41CB5CF34A42}"/>
              </a:ext>
            </a:extLst>
          </p:cNvPr>
          <p:cNvSpPr/>
          <p:nvPr/>
        </p:nvSpPr>
        <p:spPr>
          <a:xfrm>
            <a:off x="1257919" y="2013626"/>
            <a:ext cx="9116383" cy="4525285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endParaRPr/>
          </a:p>
        </p:txBody>
      </p:sp>
      <p:sp>
        <p:nvSpPr>
          <p:cNvPr id="45" name="Rounded Rectangle 3">
            <a:extLst>
              <a:ext uri="{FF2B5EF4-FFF2-40B4-BE49-F238E27FC236}">
                <a16:creationId xmlns:a16="http://schemas.microsoft.com/office/drawing/2014/main" id="{DCAB8F87-9C53-5905-E819-C590080A6C0E}"/>
              </a:ext>
            </a:extLst>
          </p:cNvPr>
          <p:cNvSpPr/>
          <p:nvPr/>
        </p:nvSpPr>
        <p:spPr>
          <a:xfrm>
            <a:off x="5753913" y="2354010"/>
            <a:ext cx="3731853" cy="39997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endParaRPr/>
          </a:p>
        </p:txBody>
      </p:sp>
      <p:sp>
        <p:nvSpPr>
          <p:cNvPr id="46" name="TextBox 4">
            <a:extLst>
              <a:ext uri="{FF2B5EF4-FFF2-40B4-BE49-F238E27FC236}">
                <a16:creationId xmlns:a16="http://schemas.microsoft.com/office/drawing/2014/main" id="{CEAC708C-F830-26A5-DC06-126E7CD25D11}"/>
              </a:ext>
            </a:extLst>
          </p:cNvPr>
          <p:cNvSpPr txBox="1"/>
          <p:nvPr/>
        </p:nvSpPr>
        <p:spPr>
          <a:xfrm>
            <a:off x="4585635" y="2105983"/>
            <a:ext cx="1954780" cy="19944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 i="1" dirty="0">
                <a:solidFill>
                  <a:srgbClr val="000000"/>
                </a:solidFill>
                <a:latin typeface="Times New Roman"/>
              </a:rPr>
              <a:t>Adapter Datapath</a:t>
            </a:r>
          </a:p>
        </p:txBody>
      </p:sp>
      <p:sp>
        <p:nvSpPr>
          <p:cNvPr id="47" name="Rectangle 5">
            <a:extLst>
              <a:ext uri="{FF2B5EF4-FFF2-40B4-BE49-F238E27FC236}">
                <a16:creationId xmlns:a16="http://schemas.microsoft.com/office/drawing/2014/main" id="{F53B1383-D321-FE80-9DE6-A20B0D63F467}"/>
              </a:ext>
            </a:extLst>
          </p:cNvPr>
          <p:cNvSpPr/>
          <p:nvPr/>
        </p:nvSpPr>
        <p:spPr>
          <a:xfrm>
            <a:off x="1711072" y="2142913"/>
            <a:ext cx="2221341" cy="370345"/>
          </a:xfrm>
          <a:prstGeom prst="rect">
            <a:avLst/>
          </a:prstGeom>
          <a:solidFill>
            <a:srgbClr val="FFF2CC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b="1" dirty="0">
                <a:solidFill>
                  <a:srgbClr val="000000"/>
                </a:solidFill>
                <a:latin typeface="Times New Roman"/>
              </a:rPr>
              <a:t>Control Unit</a:t>
            </a:r>
          </a:p>
        </p:txBody>
      </p:sp>
      <p:sp>
        <p:nvSpPr>
          <p:cNvPr id="48" name="Rounded Rectangle 6">
            <a:extLst>
              <a:ext uri="{FF2B5EF4-FFF2-40B4-BE49-F238E27FC236}">
                <a16:creationId xmlns:a16="http://schemas.microsoft.com/office/drawing/2014/main" id="{A1559353-5A2E-B307-C3DB-2005A74FE755}"/>
              </a:ext>
            </a:extLst>
          </p:cNvPr>
          <p:cNvSpPr/>
          <p:nvPr/>
        </p:nvSpPr>
        <p:spPr>
          <a:xfrm>
            <a:off x="1622219" y="2792187"/>
            <a:ext cx="2399048" cy="3561551"/>
          </a:xfrm>
          <a:prstGeom prst="roundRect">
            <a:avLst/>
          </a:prstGeom>
          <a:solidFill>
            <a:srgbClr val="DEEBF7"/>
          </a:solidFill>
          <a:ln w="1905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endParaRPr/>
          </a:p>
        </p:txBody>
      </p:sp>
      <p:sp>
        <p:nvSpPr>
          <p:cNvPr id="49" name="TextBox 7">
            <a:extLst>
              <a:ext uri="{FF2B5EF4-FFF2-40B4-BE49-F238E27FC236}">
                <a16:creationId xmlns:a16="http://schemas.microsoft.com/office/drawing/2014/main" id="{536A793A-C79F-A014-3448-326165FDD05B}"/>
              </a:ext>
            </a:extLst>
          </p:cNvPr>
          <p:cNvSpPr txBox="1"/>
          <p:nvPr/>
        </p:nvSpPr>
        <p:spPr>
          <a:xfrm>
            <a:off x="1639989" y="2914356"/>
            <a:ext cx="2399048" cy="19944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 i="1" dirty="0">
                <a:solidFill>
                  <a:srgbClr val="000000"/>
                </a:solidFill>
                <a:latin typeface="Times New Roman"/>
              </a:rPr>
              <a:t>Adapter Memories  (RAM)</a:t>
            </a:r>
          </a:p>
        </p:txBody>
      </p:sp>
      <p:cxnSp>
        <p:nvCxnSpPr>
          <p:cNvPr id="50" name="Connector 8">
            <a:extLst>
              <a:ext uri="{FF2B5EF4-FFF2-40B4-BE49-F238E27FC236}">
                <a16:creationId xmlns:a16="http://schemas.microsoft.com/office/drawing/2014/main" id="{9DB65D46-F036-0889-AEA6-86D51C7AFBE7}"/>
              </a:ext>
            </a:extLst>
          </p:cNvPr>
          <p:cNvCxnSpPr>
            <a:cxnSpLocks/>
            <a:stCxn id="47" idx="2"/>
            <a:endCxn id="48" idx="0"/>
          </p:cNvCxnSpPr>
          <p:nvPr/>
        </p:nvCxnSpPr>
        <p:spPr>
          <a:xfrm>
            <a:off x="2821743" y="2513259"/>
            <a:ext cx="0" cy="278929"/>
          </a:xfrm>
          <a:prstGeom prst="line">
            <a:avLst/>
          </a:prstGeom>
          <a:ln w="22225">
            <a:solidFill>
              <a:srgbClr val="000000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9">
            <a:extLst>
              <a:ext uri="{FF2B5EF4-FFF2-40B4-BE49-F238E27FC236}">
                <a16:creationId xmlns:a16="http://schemas.microsoft.com/office/drawing/2014/main" id="{3CB740C4-46A2-B7E7-0073-9F1F66FABC9E}"/>
              </a:ext>
            </a:extLst>
          </p:cNvPr>
          <p:cNvSpPr/>
          <p:nvPr/>
        </p:nvSpPr>
        <p:spPr>
          <a:xfrm>
            <a:off x="1799926" y="3242839"/>
            <a:ext cx="2043634" cy="385159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b="1" dirty="0" err="1">
                <a:solidFill>
                  <a:srgbClr val="000000"/>
                </a:solidFill>
                <a:latin typeface="Times New Roman"/>
              </a:rPr>
              <a:t>ram_down</a:t>
            </a:r>
            <a:endParaRPr b="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Rectangle 10">
            <a:extLst>
              <a:ext uri="{FF2B5EF4-FFF2-40B4-BE49-F238E27FC236}">
                <a16:creationId xmlns:a16="http://schemas.microsoft.com/office/drawing/2014/main" id="{E1630404-C9BD-DFD6-8E10-D197DE299B21}"/>
              </a:ext>
            </a:extLst>
          </p:cNvPr>
          <p:cNvSpPr/>
          <p:nvPr/>
        </p:nvSpPr>
        <p:spPr>
          <a:xfrm>
            <a:off x="1799926" y="3872427"/>
            <a:ext cx="2043634" cy="385159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b="1" dirty="0" err="1">
                <a:solidFill>
                  <a:srgbClr val="000000"/>
                </a:solidFill>
                <a:latin typeface="Times New Roman"/>
              </a:rPr>
              <a:t>ram_rc</a:t>
            </a:r>
            <a:endParaRPr b="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Rectangle 11">
            <a:extLst>
              <a:ext uri="{FF2B5EF4-FFF2-40B4-BE49-F238E27FC236}">
                <a16:creationId xmlns:a16="http://schemas.microsoft.com/office/drawing/2014/main" id="{C5A8F369-D0BF-1E3F-42D5-45A6DCB09E41}"/>
              </a:ext>
            </a:extLst>
          </p:cNvPr>
          <p:cNvSpPr/>
          <p:nvPr/>
        </p:nvSpPr>
        <p:spPr>
          <a:xfrm>
            <a:off x="1799926" y="5131599"/>
            <a:ext cx="2043634" cy="385159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b="1" dirty="0" err="1">
                <a:solidFill>
                  <a:srgbClr val="000000"/>
                </a:solidFill>
                <a:latin typeface="Times New Roman"/>
              </a:rPr>
              <a:t>ram_up</a:t>
            </a:r>
            <a:endParaRPr b="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Rectangle 12">
            <a:extLst>
              <a:ext uri="{FF2B5EF4-FFF2-40B4-BE49-F238E27FC236}">
                <a16:creationId xmlns:a16="http://schemas.microsoft.com/office/drawing/2014/main" id="{EC4DBBBB-AA3B-0508-DC96-1DB6C2DF70EE}"/>
              </a:ext>
            </a:extLst>
          </p:cNvPr>
          <p:cNvSpPr/>
          <p:nvPr/>
        </p:nvSpPr>
        <p:spPr>
          <a:xfrm>
            <a:off x="1799926" y="5761187"/>
            <a:ext cx="2043634" cy="385159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b="1" dirty="0" err="1">
                <a:solidFill>
                  <a:srgbClr val="000000"/>
                </a:solidFill>
                <a:latin typeface="Times New Roman"/>
              </a:rPr>
              <a:t>contrib_lut</a:t>
            </a:r>
            <a:endParaRPr b="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Rectangle 13">
            <a:extLst>
              <a:ext uri="{FF2B5EF4-FFF2-40B4-BE49-F238E27FC236}">
                <a16:creationId xmlns:a16="http://schemas.microsoft.com/office/drawing/2014/main" id="{78E45469-32B2-1074-DE74-ECA4C968B6B0}"/>
              </a:ext>
            </a:extLst>
          </p:cNvPr>
          <p:cNvSpPr/>
          <p:nvPr/>
        </p:nvSpPr>
        <p:spPr>
          <a:xfrm>
            <a:off x="6020474" y="2613252"/>
            <a:ext cx="3198731" cy="385159"/>
          </a:xfrm>
          <a:prstGeom prst="rect">
            <a:avLst/>
          </a:prstGeom>
          <a:solidFill>
            <a:srgbClr val="FFF2CC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400" b="1">
                <a:solidFill>
                  <a:srgbClr val="000000"/>
                </a:solidFill>
                <a:latin typeface="Times New Roman"/>
              </a:rPr>
              <a:t>Input Buffer</a:t>
            </a:r>
          </a:p>
        </p:txBody>
      </p:sp>
      <p:sp>
        <p:nvSpPr>
          <p:cNvPr id="56" name="Rectangle 14">
            <a:extLst>
              <a:ext uri="{FF2B5EF4-FFF2-40B4-BE49-F238E27FC236}">
                <a16:creationId xmlns:a16="http://schemas.microsoft.com/office/drawing/2014/main" id="{173CDB81-7487-2FDF-B412-6CFFF99403EC}"/>
              </a:ext>
            </a:extLst>
          </p:cNvPr>
          <p:cNvSpPr/>
          <p:nvPr/>
        </p:nvSpPr>
        <p:spPr>
          <a:xfrm>
            <a:off x="6020474" y="3242839"/>
            <a:ext cx="3198731" cy="385159"/>
          </a:xfrm>
          <a:prstGeom prst="rect">
            <a:avLst/>
          </a:prstGeom>
          <a:solidFill>
            <a:srgbClr val="F8CBAD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400" b="1">
                <a:solidFill>
                  <a:srgbClr val="000000"/>
                </a:solidFill>
                <a:latin typeface="Times New Roman"/>
              </a:rPr>
              <a:t>XNOR + popcount  (down)</a:t>
            </a:r>
          </a:p>
        </p:txBody>
      </p:sp>
      <p:sp>
        <p:nvSpPr>
          <p:cNvPr id="57" name="Rectangle 15">
            <a:extLst>
              <a:ext uri="{FF2B5EF4-FFF2-40B4-BE49-F238E27FC236}">
                <a16:creationId xmlns:a16="http://schemas.microsoft.com/office/drawing/2014/main" id="{EAE4C773-EFED-93D4-FD65-8DDC2332C11E}"/>
              </a:ext>
            </a:extLst>
          </p:cNvPr>
          <p:cNvSpPr/>
          <p:nvPr/>
        </p:nvSpPr>
        <p:spPr>
          <a:xfrm>
            <a:off x="6020474" y="3872427"/>
            <a:ext cx="3198731" cy="385159"/>
          </a:xfrm>
          <a:prstGeom prst="rect">
            <a:avLst/>
          </a:prstGeom>
          <a:solidFill>
            <a:srgbClr val="F8CBAD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400" b="1">
                <a:solidFill>
                  <a:srgbClr val="000000"/>
                </a:solidFill>
                <a:latin typeface="Times New Roman"/>
              </a:rPr>
              <a:t>Accumulator + RC</a:t>
            </a:r>
          </a:p>
        </p:txBody>
      </p:sp>
      <p:sp>
        <p:nvSpPr>
          <p:cNvPr id="58" name="Rectangle 16">
            <a:extLst>
              <a:ext uri="{FF2B5EF4-FFF2-40B4-BE49-F238E27FC236}">
                <a16:creationId xmlns:a16="http://schemas.microsoft.com/office/drawing/2014/main" id="{AACC6E79-62DF-323B-8F9F-CE797559ECFD}"/>
              </a:ext>
            </a:extLst>
          </p:cNvPr>
          <p:cNvSpPr/>
          <p:nvPr/>
        </p:nvSpPr>
        <p:spPr>
          <a:xfrm>
            <a:off x="6020474" y="4502012"/>
            <a:ext cx="3198731" cy="385159"/>
          </a:xfrm>
          <a:prstGeom prst="rect">
            <a:avLst/>
          </a:prstGeom>
          <a:solidFill>
            <a:srgbClr val="C6E0B4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400" b="1">
                <a:solidFill>
                  <a:srgbClr val="000000"/>
                </a:solidFill>
                <a:latin typeface="Times New Roman"/>
              </a:rPr>
              <a:t>Sign  →  hidden_act</a:t>
            </a:r>
          </a:p>
        </p:txBody>
      </p:sp>
      <p:sp>
        <p:nvSpPr>
          <p:cNvPr id="59" name="Rectangle 17">
            <a:extLst>
              <a:ext uri="{FF2B5EF4-FFF2-40B4-BE49-F238E27FC236}">
                <a16:creationId xmlns:a16="http://schemas.microsoft.com/office/drawing/2014/main" id="{4F3A49E9-9029-3ED3-5FC7-076A6283EBD6}"/>
              </a:ext>
            </a:extLst>
          </p:cNvPr>
          <p:cNvSpPr/>
          <p:nvPr/>
        </p:nvSpPr>
        <p:spPr>
          <a:xfrm>
            <a:off x="6020474" y="5131599"/>
            <a:ext cx="3198731" cy="385159"/>
          </a:xfrm>
          <a:prstGeom prst="rect">
            <a:avLst/>
          </a:prstGeom>
          <a:solidFill>
            <a:srgbClr val="F8CBAD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400" b="1">
                <a:solidFill>
                  <a:srgbClr val="000000"/>
                </a:solidFill>
                <a:latin typeface="Times New Roman"/>
              </a:rPr>
              <a:t>XNOR + popcount  (up)</a:t>
            </a:r>
          </a:p>
        </p:txBody>
      </p:sp>
      <p:sp>
        <p:nvSpPr>
          <p:cNvPr id="60" name="Rectangle 18">
            <a:extLst>
              <a:ext uri="{FF2B5EF4-FFF2-40B4-BE49-F238E27FC236}">
                <a16:creationId xmlns:a16="http://schemas.microsoft.com/office/drawing/2014/main" id="{4109FC1F-5F87-DD44-75DC-EE90DEDC8FA0}"/>
              </a:ext>
            </a:extLst>
          </p:cNvPr>
          <p:cNvSpPr/>
          <p:nvPr/>
        </p:nvSpPr>
        <p:spPr>
          <a:xfrm>
            <a:off x="6020474" y="5761187"/>
            <a:ext cx="3198731" cy="385159"/>
          </a:xfrm>
          <a:prstGeom prst="rect">
            <a:avLst/>
          </a:prstGeom>
          <a:solidFill>
            <a:srgbClr val="D9D9D9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400" b="1" dirty="0">
                <a:solidFill>
                  <a:srgbClr val="000000"/>
                </a:solidFill>
                <a:latin typeface="Times New Roman"/>
              </a:rPr>
              <a:t>α-LUT  →  </a:t>
            </a:r>
            <a:r>
              <a:rPr sz="1400" b="1" dirty="0" err="1">
                <a:solidFill>
                  <a:srgbClr val="000000"/>
                </a:solidFill>
                <a:latin typeface="Times New Roman"/>
              </a:rPr>
              <a:t>contrib</a:t>
            </a:r>
            <a:endParaRPr sz="1400" b="1" dirty="0">
              <a:solidFill>
                <a:srgbClr val="000000"/>
              </a:solidFill>
              <a:latin typeface="Times New Roman"/>
            </a:endParaRPr>
          </a:p>
        </p:txBody>
      </p:sp>
      <p:cxnSp>
        <p:nvCxnSpPr>
          <p:cNvPr id="61" name="Connector 19">
            <a:extLst>
              <a:ext uri="{FF2B5EF4-FFF2-40B4-BE49-F238E27FC236}">
                <a16:creationId xmlns:a16="http://schemas.microsoft.com/office/drawing/2014/main" id="{1FD57DD4-79F4-534A-F159-D32F0235635D}"/>
              </a:ext>
            </a:extLst>
          </p:cNvPr>
          <p:cNvCxnSpPr/>
          <p:nvPr/>
        </p:nvCxnSpPr>
        <p:spPr>
          <a:xfrm>
            <a:off x="7619839" y="2998411"/>
            <a:ext cx="0" cy="244428"/>
          </a:xfrm>
          <a:prstGeom prst="line">
            <a:avLst/>
          </a:prstGeom>
          <a:ln w="22225">
            <a:solidFill>
              <a:srgbClr val="000000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20">
            <a:extLst>
              <a:ext uri="{FF2B5EF4-FFF2-40B4-BE49-F238E27FC236}">
                <a16:creationId xmlns:a16="http://schemas.microsoft.com/office/drawing/2014/main" id="{20E5FD2D-EFD9-5A9E-F2C0-ACA20B6FD965}"/>
              </a:ext>
            </a:extLst>
          </p:cNvPr>
          <p:cNvCxnSpPr/>
          <p:nvPr/>
        </p:nvCxnSpPr>
        <p:spPr>
          <a:xfrm>
            <a:off x="7619839" y="3627998"/>
            <a:ext cx="0" cy="244428"/>
          </a:xfrm>
          <a:prstGeom prst="line">
            <a:avLst/>
          </a:prstGeom>
          <a:ln w="22225">
            <a:solidFill>
              <a:srgbClr val="000000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21">
            <a:extLst>
              <a:ext uri="{FF2B5EF4-FFF2-40B4-BE49-F238E27FC236}">
                <a16:creationId xmlns:a16="http://schemas.microsoft.com/office/drawing/2014/main" id="{FAE0261C-A1DA-07C0-D49C-A293397E3997}"/>
              </a:ext>
            </a:extLst>
          </p:cNvPr>
          <p:cNvCxnSpPr/>
          <p:nvPr/>
        </p:nvCxnSpPr>
        <p:spPr>
          <a:xfrm>
            <a:off x="7619839" y="4257585"/>
            <a:ext cx="0" cy="244428"/>
          </a:xfrm>
          <a:prstGeom prst="line">
            <a:avLst/>
          </a:prstGeom>
          <a:ln w="22225">
            <a:solidFill>
              <a:srgbClr val="000000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22">
            <a:extLst>
              <a:ext uri="{FF2B5EF4-FFF2-40B4-BE49-F238E27FC236}">
                <a16:creationId xmlns:a16="http://schemas.microsoft.com/office/drawing/2014/main" id="{D0785695-BC70-D549-195C-21C2BC2A78D5}"/>
              </a:ext>
            </a:extLst>
          </p:cNvPr>
          <p:cNvCxnSpPr/>
          <p:nvPr/>
        </p:nvCxnSpPr>
        <p:spPr>
          <a:xfrm>
            <a:off x="7619839" y="4887171"/>
            <a:ext cx="0" cy="244429"/>
          </a:xfrm>
          <a:prstGeom prst="line">
            <a:avLst/>
          </a:prstGeom>
          <a:ln w="22225">
            <a:solidFill>
              <a:srgbClr val="000000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23">
            <a:extLst>
              <a:ext uri="{FF2B5EF4-FFF2-40B4-BE49-F238E27FC236}">
                <a16:creationId xmlns:a16="http://schemas.microsoft.com/office/drawing/2014/main" id="{B1E88357-9526-163A-8C0F-7D61D4521131}"/>
              </a:ext>
            </a:extLst>
          </p:cNvPr>
          <p:cNvCxnSpPr/>
          <p:nvPr/>
        </p:nvCxnSpPr>
        <p:spPr>
          <a:xfrm>
            <a:off x="7619839" y="5516757"/>
            <a:ext cx="0" cy="244429"/>
          </a:xfrm>
          <a:prstGeom prst="line">
            <a:avLst/>
          </a:prstGeom>
          <a:ln w="22225">
            <a:solidFill>
              <a:srgbClr val="000000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24">
            <a:extLst>
              <a:ext uri="{FF2B5EF4-FFF2-40B4-BE49-F238E27FC236}">
                <a16:creationId xmlns:a16="http://schemas.microsoft.com/office/drawing/2014/main" id="{BBB4F293-EB8F-4B19-52D0-E01B517F2A0A}"/>
              </a:ext>
            </a:extLst>
          </p:cNvPr>
          <p:cNvCxnSpPr/>
          <p:nvPr/>
        </p:nvCxnSpPr>
        <p:spPr>
          <a:xfrm flipV="1">
            <a:off x="7539871" y="4920502"/>
            <a:ext cx="159937" cy="177767"/>
          </a:xfrm>
          <a:prstGeom prst="line">
            <a:avLst/>
          </a:prstGeom>
          <a:ln w="222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25">
            <a:extLst>
              <a:ext uri="{FF2B5EF4-FFF2-40B4-BE49-F238E27FC236}">
                <a16:creationId xmlns:a16="http://schemas.microsoft.com/office/drawing/2014/main" id="{9EC562D5-321B-728F-5946-297126C47355}"/>
              </a:ext>
            </a:extLst>
          </p:cNvPr>
          <p:cNvSpPr txBox="1"/>
          <p:nvPr/>
        </p:nvSpPr>
        <p:spPr>
          <a:xfrm>
            <a:off x="7753120" y="4898281"/>
            <a:ext cx="1243951" cy="2222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1">
                <a:solidFill>
                  <a:srgbClr val="000000"/>
                </a:solidFill>
                <a:latin typeface="Times New Roman"/>
              </a:rPr>
              <a:t>[HIDDEN]</a:t>
            </a:r>
          </a:p>
        </p:txBody>
      </p:sp>
      <p:cxnSp>
        <p:nvCxnSpPr>
          <p:cNvPr id="68" name="Connector 26">
            <a:extLst>
              <a:ext uri="{FF2B5EF4-FFF2-40B4-BE49-F238E27FC236}">
                <a16:creationId xmlns:a16="http://schemas.microsoft.com/office/drawing/2014/main" id="{1589ED77-3C22-A9F3-9591-B086FFF85877}"/>
              </a:ext>
            </a:extLst>
          </p:cNvPr>
          <p:cNvCxnSpPr/>
          <p:nvPr/>
        </p:nvCxnSpPr>
        <p:spPr>
          <a:xfrm>
            <a:off x="4021266" y="3435417"/>
            <a:ext cx="1999208" cy="0"/>
          </a:xfrm>
          <a:prstGeom prst="line">
            <a:avLst/>
          </a:prstGeom>
          <a:ln w="22225">
            <a:solidFill>
              <a:srgbClr val="000000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27">
            <a:extLst>
              <a:ext uri="{FF2B5EF4-FFF2-40B4-BE49-F238E27FC236}">
                <a16:creationId xmlns:a16="http://schemas.microsoft.com/office/drawing/2014/main" id="{339928AD-078D-9B32-4939-0693F3FE09FA}"/>
              </a:ext>
            </a:extLst>
          </p:cNvPr>
          <p:cNvCxnSpPr/>
          <p:nvPr/>
        </p:nvCxnSpPr>
        <p:spPr>
          <a:xfrm flipV="1">
            <a:off x="4940902" y="3346535"/>
            <a:ext cx="159937" cy="177766"/>
          </a:xfrm>
          <a:prstGeom prst="line">
            <a:avLst/>
          </a:prstGeom>
          <a:ln w="222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28">
            <a:extLst>
              <a:ext uri="{FF2B5EF4-FFF2-40B4-BE49-F238E27FC236}">
                <a16:creationId xmlns:a16="http://schemas.microsoft.com/office/drawing/2014/main" id="{6B698624-A0BF-91FD-9AB5-D896750A1E94}"/>
              </a:ext>
            </a:extLst>
          </p:cNvPr>
          <p:cNvSpPr txBox="1"/>
          <p:nvPr/>
        </p:nvSpPr>
        <p:spPr>
          <a:xfrm>
            <a:off x="4487749" y="3094700"/>
            <a:ext cx="1332805" cy="2222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1">
                <a:solidFill>
                  <a:srgbClr val="000000"/>
                </a:solidFill>
                <a:latin typeface="Times New Roman"/>
              </a:rPr>
              <a:t>[SIMD]</a:t>
            </a:r>
          </a:p>
        </p:txBody>
      </p:sp>
      <p:cxnSp>
        <p:nvCxnSpPr>
          <p:cNvPr id="71" name="Connector 29">
            <a:extLst>
              <a:ext uri="{FF2B5EF4-FFF2-40B4-BE49-F238E27FC236}">
                <a16:creationId xmlns:a16="http://schemas.microsoft.com/office/drawing/2014/main" id="{758041BB-B229-028A-3F63-543561884D89}"/>
              </a:ext>
            </a:extLst>
          </p:cNvPr>
          <p:cNvCxnSpPr/>
          <p:nvPr/>
        </p:nvCxnSpPr>
        <p:spPr>
          <a:xfrm>
            <a:off x="4021266" y="4065005"/>
            <a:ext cx="1999208" cy="0"/>
          </a:xfrm>
          <a:prstGeom prst="line">
            <a:avLst/>
          </a:prstGeom>
          <a:ln w="22225">
            <a:solidFill>
              <a:srgbClr val="000000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30">
            <a:extLst>
              <a:ext uri="{FF2B5EF4-FFF2-40B4-BE49-F238E27FC236}">
                <a16:creationId xmlns:a16="http://schemas.microsoft.com/office/drawing/2014/main" id="{DFC6CFA7-D424-93D6-E933-DD3FD96C3B7D}"/>
              </a:ext>
            </a:extLst>
          </p:cNvPr>
          <p:cNvCxnSpPr/>
          <p:nvPr/>
        </p:nvCxnSpPr>
        <p:spPr>
          <a:xfrm flipV="1">
            <a:off x="4940902" y="3976122"/>
            <a:ext cx="159937" cy="177766"/>
          </a:xfrm>
          <a:prstGeom prst="line">
            <a:avLst/>
          </a:prstGeom>
          <a:ln w="222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31">
            <a:extLst>
              <a:ext uri="{FF2B5EF4-FFF2-40B4-BE49-F238E27FC236}">
                <a16:creationId xmlns:a16="http://schemas.microsoft.com/office/drawing/2014/main" id="{1789FB65-7D60-EE18-0F4E-D1DB1B37FFE5}"/>
              </a:ext>
            </a:extLst>
          </p:cNvPr>
          <p:cNvSpPr txBox="1"/>
          <p:nvPr/>
        </p:nvSpPr>
        <p:spPr>
          <a:xfrm>
            <a:off x="4487749" y="3724287"/>
            <a:ext cx="1332805" cy="2222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1">
                <a:solidFill>
                  <a:srgbClr val="000000"/>
                </a:solidFill>
                <a:latin typeface="Times New Roman"/>
              </a:rPr>
              <a:t>[16b]</a:t>
            </a:r>
          </a:p>
        </p:txBody>
      </p:sp>
      <p:cxnSp>
        <p:nvCxnSpPr>
          <p:cNvPr id="74" name="Connector 32">
            <a:extLst>
              <a:ext uri="{FF2B5EF4-FFF2-40B4-BE49-F238E27FC236}">
                <a16:creationId xmlns:a16="http://schemas.microsoft.com/office/drawing/2014/main" id="{87308610-3437-B67E-AD67-7EE5FBE24F13}"/>
              </a:ext>
            </a:extLst>
          </p:cNvPr>
          <p:cNvCxnSpPr/>
          <p:nvPr/>
        </p:nvCxnSpPr>
        <p:spPr>
          <a:xfrm>
            <a:off x="4021266" y="5324178"/>
            <a:ext cx="1999208" cy="0"/>
          </a:xfrm>
          <a:prstGeom prst="line">
            <a:avLst/>
          </a:prstGeom>
          <a:ln w="22225">
            <a:solidFill>
              <a:srgbClr val="000000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33">
            <a:extLst>
              <a:ext uri="{FF2B5EF4-FFF2-40B4-BE49-F238E27FC236}">
                <a16:creationId xmlns:a16="http://schemas.microsoft.com/office/drawing/2014/main" id="{EB8814F7-4712-1116-CFE5-F37B79F30572}"/>
              </a:ext>
            </a:extLst>
          </p:cNvPr>
          <p:cNvCxnSpPr/>
          <p:nvPr/>
        </p:nvCxnSpPr>
        <p:spPr>
          <a:xfrm flipV="1">
            <a:off x="4940902" y="5235295"/>
            <a:ext cx="159937" cy="177767"/>
          </a:xfrm>
          <a:prstGeom prst="line">
            <a:avLst/>
          </a:prstGeom>
          <a:ln w="222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34">
            <a:extLst>
              <a:ext uri="{FF2B5EF4-FFF2-40B4-BE49-F238E27FC236}">
                <a16:creationId xmlns:a16="http://schemas.microsoft.com/office/drawing/2014/main" id="{ADE8668C-41D2-E08A-E364-5A0C17B96FEB}"/>
              </a:ext>
            </a:extLst>
          </p:cNvPr>
          <p:cNvSpPr txBox="1"/>
          <p:nvPr/>
        </p:nvSpPr>
        <p:spPr>
          <a:xfrm>
            <a:off x="4487749" y="4983460"/>
            <a:ext cx="1332805" cy="2222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1">
                <a:solidFill>
                  <a:srgbClr val="000000"/>
                </a:solidFill>
                <a:latin typeface="Times New Roman"/>
              </a:rPr>
              <a:t>[HIDDEN]</a:t>
            </a:r>
          </a:p>
        </p:txBody>
      </p:sp>
      <p:cxnSp>
        <p:nvCxnSpPr>
          <p:cNvPr id="77" name="Connector 35">
            <a:extLst>
              <a:ext uri="{FF2B5EF4-FFF2-40B4-BE49-F238E27FC236}">
                <a16:creationId xmlns:a16="http://schemas.microsoft.com/office/drawing/2014/main" id="{B2CEDCAC-8857-74A6-B003-CEBD37304324}"/>
              </a:ext>
            </a:extLst>
          </p:cNvPr>
          <p:cNvCxnSpPr/>
          <p:nvPr/>
        </p:nvCxnSpPr>
        <p:spPr>
          <a:xfrm>
            <a:off x="4021266" y="5953767"/>
            <a:ext cx="1999208" cy="0"/>
          </a:xfrm>
          <a:prstGeom prst="line">
            <a:avLst/>
          </a:prstGeom>
          <a:ln w="22225">
            <a:solidFill>
              <a:srgbClr val="000000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36">
            <a:extLst>
              <a:ext uri="{FF2B5EF4-FFF2-40B4-BE49-F238E27FC236}">
                <a16:creationId xmlns:a16="http://schemas.microsoft.com/office/drawing/2014/main" id="{25ADBFFC-9932-6F5B-D82E-78E5D26B405B}"/>
              </a:ext>
            </a:extLst>
          </p:cNvPr>
          <p:cNvCxnSpPr/>
          <p:nvPr/>
        </p:nvCxnSpPr>
        <p:spPr>
          <a:xfrm flipV="1">
            <a:off x="4940902" y="5864884"/>
            <a:ext cx="159937" cy="177766"/>
          </a:xfrm>
          <a:prstGeom prst="line">
            <a:avLst/>
          </a:prstGeom>
          <a:ln w="222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37">
            <a:extLst>
              <a:ext uri="{FF2B5EF4-FFF2-40B4-BE49-F238E27FC236}">
                <a16:creationId xmlns:a16="http://schemas.microsoft.com/office/drawing/2014/main" id="{FC912103-35A1-D217-394A-98FAE757D44A}"/>
              </a:ext>
            </a:extLst>
          </p:cNvPr>
          <p:cNvSpPr txBox="1"/>
          <p:nvPr/>
        </p:nvSpPr>
        <p:spPr>
          <a:xfrm>
            <a:off x="4487749" y="5613049"/>
            <a:ext cx="1332805" cy="2222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1">
                <a:solidFill>
                  <a:srgbClr val="000000"/>
                </a:solidFill>
                <a:latin typeface="Times New Roman"/>
              </a:rPr>
              <a:t>[32b]</a:t>
            </a:r>
          </a:p>
        </p:txBody>
      </p:sp>
      <p:cxnSp>
        <p:nvCxnSpPr>
          <p:cNvPr id="80" name="Connector 38">
            <a:extLst>
              <a:ext uri="{FF2B5EF4-FFF2-40B4-BE49-F238E27FC236}">
                <a16:creationId xmlns:a16="http://schemas.microsoft.com/office/drawing/2014/main" id="{1D2E0534-BA9D-ACBC-F914-2FB9DD94BC7F}"/>
              </a:ext>
            </a:extLst>
          </p:cNvPr>
          <p:cNvCxnSpPr/>
          <p:nvPr/>
        </p:nvCxnSpPr>
        <p:spPr>
          <a:xfrm>
            <a:off x="6642449" y="1850341"/>
            <a:ext cx="0" cy="392566"/>
          </a:xfrm>
          <a:prstGeom prst="line">
            <a:avLst/>
          </a:prstGeom>
          <a:ln w="22225">
            <a:solidFill>
              <a:srgbClr val="000000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39">
            <a:extLst>
              <a:ext uri="{FF2B5EF4-FFF2-40B4-BE49-F238E27FC236}">
                <a16:creationId xmlns:a16="http://schemas.microsoft.com/office/drawing/2014/main" id="{10C9D978-989A-BD58-0105-571F8CA4F6A9}"/>
              </a:ext>
            </a:extLst>
          </p:cNvPr>
          <p:cNvSpPr txBox="1"/>
          <p:nvPr/>
        </p:nvSpPr>
        <p:spPr>
          <a:xfrm>
            <a:off x="5931620" y="1598506"/>
            <a:ext cx="1510512" cy="2222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i="0">
                <a:solidFill>
                  <a:srgbClr val="000000"/>
                </a:solidFill>
                <a:latin typeface="Times New Roman"/>
              </a:rPr>
              <a:t>s_axis_tvalid</a:t>
            </a:r>
          </a:p>
        </p:txBody>
      </p:sp>
      <p:cxnSp>
        <p:nvCxnSpPr>
          <p:cNvPr id="82" name="Connector 40">
            <a:extLst>
              <a:ext uri="{FF2B5EF4-FFF2-40B4-BE49-F238E27FC236}">
                <a16:creationId xmlns:a16="http://schemas.microsoft.com/office/drawing/2014/main" id="{97BA9722-FB54-D544-AC92-5DDC7B869120}"/>
              </a:ext>
            </a:extLst>
          </p:cNvPr>
          <p:cNvCxnSpPr/>
          <p:nvPr/>
        </p:nvCxnSpPr>
        <p:spPr>
          <a:xfrm>
            <a:off x="7619839" y="1850341"/>
            <a:ext cx="0" cy="762911"/>
          </a:xfrm>
          <a:prstGeom prst="line">
            <a:avLst/>
          </a:prstGeom>
          <a:ln w="22225">
            <a:solidFill>
              <a:srgbClr val="000000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41">
            <a:extLst>
              <a:ext uri="{FF2B5EF4-FFF2-40B4-BE49-F238E27FC236}">
                <a16:creationId xmlns:a16="http://schemas.microsoft.com/office/drawing/2014/main" id="{4FD0F10E-02F3-3DA5-43D9-981569CA01D0}"/>
              </a:ext>
            </a:extLst>
          </p:cNvPr>
          <p:cNvCxnSpPr/>
          <p:nvPr/>
        </p:nvCxnSpPr>
        <p:spPr>
          <a:xfrm flipV="1">
            <a:off x="7539871" y="2142913"/>
            <a:ext cx="159937" cy="177766"/>
          </a:xfrm>
          <a:prstGeom prst="line">
            <a:avLst/>
          </a:prstGeom>
          <a:ln w="222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42">
            <a:extLst>
              <a:ext uri="{FF2B5EF4-FFF2-40B4-BE49-F238E27FC236}">
                <a16:creationId xmlns:a16="http://schemas.microsoft.com/office/drawing/2014/main" id="{92F3FDF4-2BEB-FA6E-DEDD-7E13D2EFB6FF}"/>
              </a:ext>
            </a:extLst>
          </p:cNvPr>
          <p:cNvSpPr txBox="1"/>
          <p:nvPr/>
        </p:nvSpPr>
        <p:spPr>
          <a:xfrm>
            <a:off x="7753120" y="2120692"/>
            <a:ext cx="1243951" cy="2222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1">
                <a:solidFill>
                  <a:srgbClr val="000000"/>
                </a:solidFill>
                <a:latin typeface="Times New Roman"/>
              </a:rPr>
              <a:t>[SIMD]</a:t>
            </a:r>
          </a:p>
        </p:txBody>
      </p:sp>
      <p:sp>
        <p:nvSpPr>
          <p:cNvPr id="85" name="TextBox 43">
            <a:extLst>
              <a:ext uri="{FF2B5EF4-FFF2-40B4-BE49-F238E27FC236}">
                <a16:creationId xmlns:a16="http://schemas.microsoft.com/office/drawing/2014/main" id="{F7DE2B8F-67C3-B61C-0CE2-23459E6C921A}"/>
              </a:ext>
            </a:extLst>
          </p:cNvPr>
          <p:cNvSpPr txBox="1"/>
          <p:nvPr/>
        </p:nvSpPr>
        <p:spPr>
          <a:xfrm>
            <a:off x="6909010" y="1598506"/>
            <a:ext cx="1421658" cy="1809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 dirty="0" err="1">
                <a:solidFill>
                  <a:srgbClr val="000000"/>
                </a:solidFill>
                <a:latin typeface="Times New Roman"/>
              </a:rPr>
              <a:t>s_axis_tdata</a:t>
            </a:r>
            <a:endParaRPr sz="1300" b="1" i="0" dirty="0">
              <a:solidFill>
                <a:srgbClr val="000000"/>
              </a:solidFill>
              <a:latin typeface="Times New Roman"/>
            </a:endParaRPr>
          </a:p>
        </p:txBody>
      </p:sp>
      <p:cxnSp>
        <p:nvCxnSpPr>
          <p:cNvPr id="86" name="Connector 44">
            <a:extLst>
              <a:ext uri="{FF2B5EF4-FFF2-40B4-BE49-F238E27FC236}">
                <a16:creationId xmlns:a16="http://schemas.microsoft.com/office/drawing/2014/main" id="{062523B8-36B2-9D6A-6735-C0DD893109BB}"/>
              </a:ext>
            </a:extLst>
          </p:cNvPr>
          <p:cNvCxnSpPr/>
          <p:nvPr/>
        </p:nvCxnSpPr>
        <p:spPr>
          <a:xfrm>
            <a:off x="8686083" y="1850341"/>
            <a:ext cx="0" cy="392566"/>
          </a:xfrm>
          <a:prstGeom prst="line">
            <a:avLst/>
          </a:prstGeom>
          <a:ln w="22225">
            <a:solidFill>
              <a:srgbClr val="000000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45">
            <a:extLst>
              <a:ext uri="{FF2B5EF4-FFF2-40B4-BE49-F238E27FC236}">
                <a16:creationId xmlns:a16="http://schemas.microsoft.com/office/drawing/2014/main" id="{C980EE66-9589-3AA1-AE2E-C14492900613}"/>
              </a:ext>
            </a:extLst>
          </p:cNvPr>
          <p:cNvSpPr txBox="1"/>
          <p:nvPr/>
        </p:nvSpPr>
        <p:spPr>
          <a:xfrm>
            <a:off x="7975254" y="1598506"/>
            <a:ext cx="1510512" cy="2222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i="0">
                <a:solidFill>
                  <a:srgbClr val="000000"/>
                </a:solidFill>
                <a:latin typeface="Times New Roman"/>
              </a:rPr>
              <a:t>m_axis_tready</a:t>
            </a:r>
          </a:p>
        </p:txBody>
      </p:sp>
      <p:cxnSp>
        <p:nvCxnSpPr>
          <p:cNvPr id="88" name="Connector 46">
            <a:extLst>
              <a:ext uri="{FF2B5EF4-FFF2-40B4-BE49-F238E27FC236}">
                <a16:creationId xmlns:a16="http://schemas.microsoft.com/office/drawing/2014/main" id="{48F32742-A50A-96CB-AB14-F42A76FB9F2F}"/>
              </a:ext>
            </a:extLst>
          </p:cNvPr>
          <p:cNvCxnSpPr/>
          <p:nvPr/>
        </p:nvCxnSpPr>
        <p:spPr>
          <a:xfrm>
            <a:off x="10374302" y="3435417"/>
            <a:ext cx="710829" cy="0"/>
          </a:xfrm>
          <a:prstGeom prst="line">
            <a:avLst/>
          </a:prstGeom>
          <a:ln w="22225">
            <a:solidFill>
              <a:srgbClr val="000000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47">
            <a:extLst>
              <a:ext uri="{FF2B5EF4-FFF2-40B4-BE49-F238E27FC236}">
                <a16:creationId xmlns:a16="http://schemas.microsoft.com/office/drawing/2014/main" id="{EA0C0024-E538-CD04-E667-156A711F81B2}"/>
              </a:ext>
            </a:extLst>
          </p:cNvPr>
          <p:cNvSpPr txBox="1"/>
          <p:nvPr/>
        </p:nvSpPr>
        <p:spPr>
          <a:xfrm>
            <a:off x="10455134" y="3146967"/>
            <a:ext cx="1510512" cy="2222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 dirty="0" err="1">
                <a:solidFill>
                  <a:srgbClr val="000000"/>
                </a:solidFill>
                <a:latin typeface="Times New Roman"/>
              </a:rPr>
              <a:t>s_axis_tready</a:t>
            </a:r>
            <a:endParaRPr sz="1300" b="0" i="0" dirty="0">
              <a:solidFill>
                <a:srgbClr val="000000"/>
              </a:solidFill>
              <a:latin typeface="Times New Roman"/>
            </a:endParaRPr>
          </a:p>
        </p:txBody>
      </p:sp>
      <p:cxnSp>
        <p:nvCxnSpPr>
          <p:cNvPr id="90" name="Connector 48">
            <a:extLst>
              <a:ext uri="{FF2B5EF4-FFF2-40B4-BE49-F238E27FC236}">
                <a16:creationId xmlns:a16="http://schemas.microsoft.com/office/drawing/2014/main" id="{CD29198D-DD90-A65F-3368-F24446CDBD64}"/>
              </a:ext>
            </a:extLst>
          </p:cNvPr>
          <p:cNvCxnSpPr/>
          <p:nvPr/>
        </p:nvCxnSpPr>
        <p:spPr>
          <a:xfrm>
            <a:off x="10374302" y="5324178"/>
            <a:ext cx="710829" cy="0"/>
          </a:xfrm>
          <a:prstGeom prst="line">
            <a:avLst/>
          </a:prstGeom>
          <a:ln w="22225">
            <a:solidFill>
              <a:srgbClr val="000000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49">
            <a:extLst>
              <a:ext uri="{FF2B5EF4-FFF2-40B4-BE49-F238E27FC236}">
                <a16:creationId xmlns:a16="http://schemas.microsoft.com/office/drawing/2014/main" id="{77BBFF4B-2307-606B-D462-16402A937800}"/>
              </a:ext>
            </a:extLst>
          </p:cNvPr>
          <p:cNvSpPr txBox="1"/>
          <p:nvPr/>
        </p:nvSpPr>
        <p:spPr>
          <a:xfrm>
            <a:off x="10478395" y="5026858"/>
            <a:ext cx="1510512" cy="2222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 dirty="0" err="1">
                <a:solidFill>
                  <a:srgbClr val="000000"/>
                </a:solidFill>
                <a:latin typeface="Times New Roman"/>
              </a:rPr>
              <a:t>m_axis_tvalid</a:t>
            </a:r>
            <a:endParaRPr sz="1300" b="0" i="0" dirty="0">
              <a:solidFill>
                <a:srgbClr val="000000"/>
              </a:solidFill>
              <a:latin typeface="Times New Roman"/>
            </a:endParaRPr>
          </a:p>
        </p:txBody>
      </p:sp>
      <p:cxnSp>
        <p:nvCxnSpPr>
          <p:cNvPr id="92" name="Connector 50">
            <a:extLst>
              <a:ext uri="{FF2B5EF4-FFF2-40B4-BE49-F238E27FC236}">
                <a16:creationId xmlns:a16="http://schemas.microsoft.com/office/drawing/2014/main" id="{A91D24C0-3941-56B7-6CD5-9F66A1BA735F}"/>
              </a:ext>
            </a:extLst>
          </p:cNvPr>
          <p:cNvCxnSpPr/>
          <p:nvPr/>
        </p:nvCxnSpPr>
        <p:spPr>
          <a:xfrm>
            <a:off x="9219205" y="5953767"/>
            <a:ext cx="1865926" cy="0"/>
          </a:xfrm>
          <a:prstGeom prst="line">
            <a:avLst/>
          </a:prstGeom>
          <a:ln w="22225">
            <a:solidFill>
              <a:srgbClr val="000000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51">
            <a:extLst>
              <a:ext uri="{FF2B5EF4-FFF2-40B4-BE49-F238E27FC236}">
                <a16:creationId xmlns:a16="http://schemas.microsoft.com/office/drawing/2014/main" id="{325D5D91-3839-1B0A-9F7C-B0FF69B6A194}"/>
              </a:ext>
            </a:extLst>
          </p:cNvPr>
          <p:cNvCxnSpPr/>
          <p:nvPr/>
        </p:nvCxnSpPr>
        <p:spPr>
          <a:xfrm flipV="1">
            <a:off x="9805639" y="5864884"/>
            <a:ext cx="159937" cy="177766"/>
          </a:xfrm>
          <a:prstGeom prst="line">
            <a:avLst/>
          </a:prstGeom>
          <a:ln w="222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52">
            <a:extLst>
              <a:ext uri="{FF2B5EF4-FFF2-40B4-BE49-F238E27FC236}">
                <a16:creationId xmlns:a16="http://schemas.microsoft.com/office/drawing/2014/main" id="{19F9291D-6A8B-8A2A-4EF2-8D86249DB890}"/>
              </a:ext>
            </a:extLst>
          </p:cNvPr>
          <p:cNvSpPr txBox="1"/>
          <p:nvPr/>
        </p:nvSpPr>
        <p:spPr>
          <a:xfrm>
            <a:off x="9352485" y="5613049"/>
            <a:ext cx="1332805" cy="2222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1" dirty="0">
                <a:solidFill>
                  <a:srgbClr val="000000"/>
                </a:solidFill>
                <a:latin typeface="Times New Roman"/>
              </a:rPr>
              <a:t>[8b]</a:t>
            </a:r>
          </a:p>
        </p:txBody>
      </p:sp>
      <p:sp>
        <p:nvSpPr>
          <p:cNvPr id="95" name="TextBox 53">
            <a:extLst>
              <a:ext uri="{FF2B5EF4-FFF2-40B4-BE49-F238E27FC236}">
                <a16:creationId xmlns:a16="http://schemas.microsoft.com/office/drawing/2014/main" id="{888327E8-72D2-410D-3BD3-C0CF628C604B}"/>
              </a:ext>
            </a:extLst>
          </p:cNvPr>
          <p:cNvSpPr txBox="1"/>
          <p:nvPr/>
        </p:nvSpPr>
        <p:spPr>
          <a:xfrm>
            <a:off x="10440940" y="5687114"/>
            <a:ext cx="1554939" cy="1809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 dirty="0" err="1">
                <a:solidFill>
                  <a:srgbClr val="000000"/>
                </a:solidFill>
                <a:latin typeface="Times New Roman"/>
              </a:rPr>
              <a:t>m_axis_tdata</a:t>
            </a:r>
            <a:endParaRPr sz="1300" b="1" i="0" dirty="0">
              <a:solidFill>
                <a:srgbClr val="000000"/>
              </a:solidFill>
              <a:latin typeface="Times New Roman"/>
            </a:endParaRPr>
          </a:p>
        </p:txBody>
      </p:sp>
      <p:cxnSp>
        <p:nvCxnSpPr>
          <p:cNvPr id="96" name="Connector 54">
            <a:extLst>
              <a:ext uri="{FF2B5EF4-FFF2-40B4-BE49-F238E27FC236}">
                <a16:creationId xmlns:a16="http://schemas.microsoft.com/office/drawing/2014/main" id="{3BD3CC98-CFE4-E041-23E6-FAB6E66CB478}"/>
              </a:ext>
            </a:extLst>
          </p:cNvPr>
          <p:cNvCxnSpPr/>
          <p:nvPr/>
        </p:nvCxnSpPr>
        <p:spPr>
          <a:xfrm>
            <a:off x="467121" y="4464977"/>
            <a:ext cx="1155097" cy="0"/>
          </a:xfrm>
          <a:prstGeom prst="line">
            <a:avLst/>
          </a:prstGeom>
          <a:ln w="22225">
            <a:solidFill>
              <a:srgbClr val="000000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55">
            <a:extLst>
              <a:ext uri="{FF2B5EF4-FFF2-40B4-BE49-F238E27FC236}">
                <a16:creationId xmlns:a16="http://schemas.microsoft.com/office/drawing/2014/main" id="{7EE613D8-C7AE-3482-FCC4-12F5AE131F68}"/>
              </a:ext>
            </a:extLst>
          </p:cNvPr>
          <p:cNvSpPr txBox="1"/>
          <p:nvPr/>
        </p:nvSpPr>
        <p:spPr>
          <a:xfrm>
            <a:off x="262758" y="4242772"/>
            <a:ext cx="1377231" cy="1925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 dirty="0" err="1">
                <a:solidFill>
                  <a:srgbClr val="000000"/>
                </a:solidFill>
                <a:latin typeface="Times New Roman"/>
              </a:rPr>
              <a:t>cfg_wen</a:t>
            </a:r>
            <a:endParaRPr sz="1100" b="1" i="0" dirty="0">
              <a:solidFill>
                <a:srgbClr val="000000"/>
              </a:solidFill>
              <a:latin typeface="Times New Roman"/>
            </a:endParaRPr>
          </a:p>
        </p:txBody>
      </p:sp>
      <p:cxnSp>
        <p:nvCxnSpPr>
          <p:cNvPr id="98" name="Connector 56">
            <a:extLst>
              <a:ext uri="{FF2B5EF4-FFF2-40B4-BE49-F238E27FC236}">
                <a16:creationId xmlns:a16="http://schemas.microsoft.com/office/drawing/2014/main" id="{B65CE626-922B-98C4-3FC7-88F725E77BF0}"/>
              </a:ext>
            </a:extLst>
          </p:cNvPr>
          <p:cNvCxnSpPr/>
          <p:nvPr/>
        </p:nvCxnSpPr>
        <p:spPr>
          <a:xfrm>
            <a:off x="467121" y="4724221"/>
            <a:ext cx="1155097" cy="0"/>
          </a:xfrm>
          <a:prstGeom prst="line">
            <a:avLst/>
          </a:prstGeom>
          <a:ln w="22225">
            <a:solidFill>
              <a:srgbClr val="000000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57">
            <a:extLst>
              <a:ext uri="{FF2B5EF4-FFF2-40B4-BE49-F238E27FC236}">
                <a16:creationId xmlns:a16="http://schemas.microsoft.com/office/drawing/2014/main" id="{21C655AD-B159-3DF1-44FB-5D7BD1A43F1A}"/>
              </a:ext>
            </a:extLst>
          </p:cNvPr>
          <p:cNvSpPr txBox="1"/>
          <p:nvPr/>
        </p:nvSpPr>
        <p:spPr>
          <a:xfrm>
            <a:off x="262758" y="4502011"/>
            <a:ext cx="1377231" cy="1925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 dirty="0" err="1">
                <a:solidFill>
                  <a:srgbClr val="000000"/>
                </a:solidFill>
                <a:latin typeface="Times New Roman"/>
              </a:rPr>
              <a:t>cfg_waddr</a:t>
            </a:r>
            <a:r>
              <a:rPr sz="1100" b="1" i="0" dirty="0">
                <a:solidFill>
                  <a:srgbClr val="000000"/>
                </a:solidFill>
                <a:latin typeface="Times New Roman"/>
              </a:rPr>
              <a:t> [11]</a:t>
            </a:r>
          </a:p>
        </p:txBody>
      </p:sp>
      <p:cxnSp>
        <p:nvCxnSpPr>
          <p:cNvPr id="100" name="Connector 58">
            <a:extLst>
              <a:ext uri="{FF2B5EF4-FFF2-40B4-BE49-F238E27FC236}">
                <a16:creationId xmlns:a16="http://schemas.microsoft.com/office/drawing/2014/main" id="{DED33E23-DC9B-3DC2-1316-A12FA6A73469}"/>
              </a:ext>
            </a:extLst>
          </p:cNvPr>
          <p:cNvCxnSpPr/>
          <p:nvPr/>
        </p:nvCxnSpPr>
        <p:spPr>
          <a:xfrm flipV="1">
            <a:off x="964702" y="4635336"/>
            <a:ext cx="159937" cy="177767"/>
          </a:xfrm>
          <a:prstGeom prst="line">
            <a:avLst/>
          </a:prstGeom>
          <a:ln w="222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59">
            <a:extLst>
              <a:ext uri="{FF2B5EF4-FFF2-40B4-BE49-F238E27FC236}">
                <a16:creationId xmlns:a16="http://schemas.microsoft.com/office/drawing/2014/main" id="{42626175-A633-2224-1F40-B8D923B725D4}"/>
              </a:ext>
            </a:extLst>
          </p:cNvPr>
          <p:cNvCxnSpPr/>
          <p:nvPr/>
        </p:nvCxnSpPr>
        <p:spPr>
          <a:xfrm>
            <a:off x="467121" y="4983461"/>
            <a:ext cx="1155097" cy="0"/>
          </a:xfrm>
          <a:prstGeom prst="line">
            <a:avLst/>
          </a:prstGeom>
          <a:ln w="22225">
            <a:solidFill>
              <a:srgbClr val="000000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60">
            <a:extLst>
              <a:ext uri="{FF2B5EF4-FFF2-40B4-BE49-F238E27FC236}">
                <a16:creationId xmlns:a16="http://schemas.microsoft.com/office/drawing/2014/main" id="{81639FB2-8E8E-778A-BED1-34532548BD6A}"/>
              </a:ext>
            </a:extLst>
          </p:cNvPr>
          <p:cNvSpPr txBox="1"/>
          <p:nvPr/>
        </p:nvSpPr>
        <p:spPr>
          <a:xfrm>
            <a:off x="262758" y="4761252"/>
            <a:ext cx="1377231" cy="1925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 dirty="0" err="1">
                <a:solidFill>
                  <a:srgbClr val="000000"/>
                </a:solidFill>
                <a:latin typeface="Times New Roman"/>
              </a:rPr>
              <a:t>cfg_wdata</a:t>
            </a:r>
            <a:r>
              <a:rPr sz="1100" b="1" i="0" dirty="0">
                <a:solidFill>
                  <a:srgbClr val="000000"/>
                </a:solidFill>
                <a:latin typeface="Times New Roman"/>
              </a:rPr>
              <a:t> [32]</a:t>
            </a:r>
          </a:p>
        </p:txBody>
      </p:sp>
      <p:cxnSp>
        <p:nvCxnSpPr>
          <p:cNvPr id="103" name="Connector 61">
            <a:extLst>
              <a:ext uri="{FF2B5EF4-FFF2-40B4-BE49-F238E27FC236}">
                <a16:creationId xmlns:a16="http://schemas.microsoft.com/office/drawing/2014/main" id="{DE2EAEE5-B512-B40B-240D-C88D53E4D579}"/>
              </a:ext>
            </a:extLst>
          </p:cNvPr>
          <p:cNvCxnSpPr/>
          <p:nvPr/>
        </p:nvCxnSpPr>
        <p:spPr>
          <a:xfrm flipV="1">
            <a:off x="964704" y="4894582"/>
            <a:ext cx="159937" cy="177766"/>
          </a:xfrm>
          <a:prstGeom prst="line">
            <a:avLst/>
          </a:prstGeom>
          <a:ln w="222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112</Words>
  <Application>Microsoft Office PowerPoint</Application>
  <PresentationFormat>寬螢幕</PresentationFormat>
  <Paragraphs>29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黃柏鈞</dc:creator>
  <cp:keywords/>
  <dc:description>generated using python-pptx</dc:description>
  <cp:lastModifiedBy>barkie</cp:lastModifiedBy>
  <cp:revision>4</cp:revision>
  <dcterms:created xsi:type="dcterms:W3CDTF">2013-01-27T09:14:16Z</dcterms:created>
  <dcterms:modified xsi:type="dcterms:W3CDTF">2026-07-19T05:36:36Z</dcterms:modified>
  <cp:category/>
</cp:coreProperties>
</file>