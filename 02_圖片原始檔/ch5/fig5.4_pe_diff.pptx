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4">
            <a:extLst>
              <a:ext uri="{FF2B5EF4-FFF2-40B4-BE49-F238E27FC236}">
                <a16:creationId xmlns:a16="http://schemas.microsoft.com/office/drawing/2014/main" id="{67CE8CC7-577A-BD61-0CB7-EF42F592524F}"/>
              </a:ext>
            </a:extLst>
          </p:cNvPr>
          <p:cNvSpPr/>
          <p:nvPr/>
        </p:nvSpPr>
        <p:spPr>
          <a:xfrm>
            <a:off x="977900" y="1884498"/>
            <a:ext cx="10236200" cy="1517818"/>
          </a:xfrm>
          <a:prstGeom prst="roundRect">
            <a:avLst>
              <a:gd name="adj" fmla="val 5000"/>
            </a:avLst>
          </a:prstGeom>
          <a:solidFill>
            <a:srgbClr val="FAE7E7"/>
          </a:solidFill>
          <a:ln w="2286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73" name="TextBox 5">
            <a:extLst>
              <a:ext uri="{FF2B5EF4-FFF2-40B4-BE49-F238E27FC236}">
                <a16:creationId xmlns:a16="http://schemas.microsoft.com/office/drawing/2014/main" id="{3FA026EC-0770-EAAC-BE6B-C391B5FFCDC9}"/>
              </a:ext>
            </a:extLst>
          </p:cNvPr>
          <p:cNvSpPr txBox="1"/>
          <p:nvPr/>
        </p:nvSpPr>
        <p:spPr>
          <a:xfrm>
            <a:off x="1229610" y="1933460"/>
            <a:ext cx="5873230" cy="384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dirty="0">
                <a:solidFill>
                  <a:srgbClr val="C02B2B"/>
                </a:solidFill>
                <a:latin typeface="Times New Roman"/>
              </a:rPr>
              <a:t>PE = 1  (Compact</a:t>
            </a:r>
            <a:r>
              <a:rPr lang="en-US" sz="2200" b="1" i="0" dirty="0">
                <a:solidFill>
                  <a:srgbClr val="C02B2B"/>
                </a:solidFill>
                <a:latin typeface="Times New Roman"/>
              </a:rPr>
              <a:t>ness</a:t>
            </a:r>
            <a:r>
              <a:rPr sz="2200" b="1" i="0" dirty="0">
                <a:solidFill>
                  <a:srgbClr val="C02B2B"/>
                </a:solidFill>
                <a:latin typeface="Times New Roman"/>
              </a:rPr>
              <a:t>)</a:t>
            </a:r>
          </a:p>
        </p:txBody>
      </p:sp>
      <p:sp>
        <p:nvSpPr>
          <p:cNvPr id="75" name="Pentagon 6">
            <a:extLst>
              <a:ext uri="{FF2B5EF4-FFF2-40B4-BE49-F238E27FC236}">
                <a16:creationId xmlns:a16="http://schemas.microsoft.com/office/drawing/2014/main" id="{6EDE61ED-F7C7-134E-DBD0-A8195196634C}"/>
              </a:ext>
            </a:extLst>
          </p:cNvPr>
          <p:cNvSpPr/>
          <p:nvPr/>
        </p:nvSpPr>
        <p:spPr>
          <a:xfrm>
            <a:off x="1120536" y="2594445"/>
            <a:ext cx="1073962" cy="587542"/>
          </a:xfrm>
          <a:prstGeom prst="homePlate">
            <a:avLst/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input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vector</a:t>
            </a:r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7A7668E3-544D-BBCC-C4C5-9CCBA28D0D33}"/>
              </a:ext>
            </a:extLst>
          </p:cNvPr>
          <p:cNvSpPr/>
          <p:nvPr/>
        </p:nvSpPr>
        <p:spPr>
          <a:xfrm>
            <a:off x="2572062" y="2618926"/>
            <a:ext cx="1174646" cy="538581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2000" b="1">
                <a:solidFill>
                  <a:srgbClr val="222A33"/>
                </a:solidFill>
                <a:latin typeface="Times New Roman"/>
              </a:rPr>
              <a:t>XNOR</a:t>
            </a:r>
          </a:p>
        </p:txBody>
      </p:sp>
      <p:cxnSp>
        <p:nvCxnSpPr>
          <p:cNvPr id="84" name="Connector 8">
            <a:extLst>
              <a:ext uri="{FF2B5EF4-FFF2-40B4-BE49-F238E27FC236}">
                <a16:creationId xmlns:a16="http://schemas.microsoft.com/office/drawing/2014/main" id="{AE240207-78B2-D31D-D14D-5CA27ABE64ED}"/>
              </a:ext>
            </a:extLst>
          </p:cNvPr>
          <p:cNvCxnSpPr/>
          <p:nvPr/>
        </p:nvCxnSpPr>
        <p:spPr>
          <a:xfrm>
            <a:off x="2194498" y="2888216"/>
            <a:ext cx="377565" cy="0"/>
          </a:xfrm>
          <a:prstGeom prst="line">
            <a:avLst/>
          </a:prstGeom>
          <a:ln w="24130">
            <a:solidFill>
              <a:srgbClr val="C02B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9">
            <a:extLst>
              <a:ext uri="{FF2B5EF4-FFF2-40B4-BE49-F238E27FC236}">
                <a16:creationId xmlns:a16="http://schemas.microsoft.com/office/drawing/2014/main" id="{3BB6E01F-DF2F-C27F-F429-EBECACEE335E}"/>
              </a:ext>
            </a:extLst>
          </p:cNvPr>
          <p:cNvSpPr/>
          <p:nvPr/>
        </p:nvSpPr>
        <p:spPr>
          <a:xfrm>
            <a:off x="4082321" y="2618926"/>
            <a:ext cx="1468307" cy="538581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2000" b="1">
                <a:solidFill>
                  <a:srgbClr val="222A33"/>
                </a:solidFill>
                <a:latin typeface="Times New Roman"/>
              </a:rPr>
              <a:t>Popcount</a:t>
            </a:r>
          </a:p>
        </p:txBody>
      </p:sp>
      <p:cxnSp>
        <p:nvCxnSpPr>
          <p:cNvPr id="86" name="Connector 10">
            <a:extLst>
              <a:ext uri="{FF2B5EF4-FFF2-40B4-BE49-F238E27FC236}">
                <a16:creationId xmlns:a16="http://schemas.microsoft.com/office/drawing/2014/main" id="{DE42AB28-05ED-0386-3FAB-41CEC57504AF}"/>
              </a:ext>
            </a:extLst>
          </p:cNvPr>
          <p:cNvCxnSpPr/>
          <p:nvPr/>
        </p:nvCxnSpPr>
        <p:spPr>
          <a:xfrm>
            <a:off x="3746708" y="2888216"/>
            <a:ext cx="335613" cy="0"/>
          </a:xfrm>
          <a:prstGeom prst="line">
            <a:avLst/>
          </a:prstGeom>
          <a:ln w="24130">
            <a:solidFill>
              <a:srgbClr val="C02B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11">
            <a:extLst>
              <a:ext uri="{FF2B5EF4-FFF2-40B4-BE49-F238E27FC236}">
                <a16:creationId xmlns:a16="http://schemas.microsoft.com/office/drawing/2014/main" id="{77CE9D2C-073E-531E-8400-F11A38EFB42F}"/>
              </a:ext>
            </a:extLst>
          </p:cNvPr>
          <p:cNvSpPr/>
          <p:nvPr/>
        </p:nvSpPr>
        <p:spPr>
          <a:xfrm>
            <a:off x="5886242" y="2618926"/>
            <a:ext cx="1132694" cy="538581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2000" b="1">
                <a:solidFill>
                  <a:srgbClr val="222A33"/>
                </a:solidFill>
                <a:latin typeface="Times New Roman"/>
              </a:rPr>
              <a:t>Accum</a:t>
            </a:r>
          </a:p>
        </p:txBody>
      </p:sp>
      <p:cxnSp>
        <p:nvCxnSpPr>
          <p:cNvPr id="89" name="Connector 12">
            <a:extLst>
              <a:ext uri="{FF2B5EF4-FFF2-40B4-BE49-F238E27FC236}">
                <a16:creationId xmlns:a16="http://schemas.microsoft.com/office/drawing/2014/main" id="{5A9E25F6-EE3A-ADB8-C553-8F6048C4E0C4}"/>
              </a:ext>
            </a:extLst>
          </p:cNvPr>
          <p:cNvCxnSpPr/>
          <p:nvPr/>
        </p:nvCxnSpPr>
        <p:spPr>
          <a:xfrm>
            <a:off x="5550629" y="2888216"/>
            <a:ext cx="335613" cy="0"/>
          </a:xfrm>
          <a:prstGeom prst="line">
            <a:avLst/>
          </a:prstGeom>
          <a:ln w="24130">
            <a:solidFill>
              <a:srgbClr val="C02B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13">
            <a:extLst>
              <a:ext uri="{FF2B5EF4-FFF2-40B4-BE49-F238E27FC236}">
                <a16:creationId xmlns:a16="http://schemas.microsoft.com/office/drawing/2014/main" id="{62A620BE-70E7-1230-A99B-A5E402C9908F}"/>
              </a:ext>
            </a:extLst>
          </p:cNvPr>
          <p:cNvSpPr/>
          <p:nvPr/>
        </p:nvSpPr>
        <p:spPr>
          <a:xfrm>
            <a:off x="7354549" y="2618926"/>
            <a:ext cx="1552211" cy="538581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2000" b="1">
                <a:solidFill>
                  <a:srgbClr val="222A33"/>
                </a:solidFill>
                <a:latin typeface="Times New Roman"/>
              </a:rPr>
              <a:t>Threshold</a:t>
            </a:r>
          </a:p>
        </p:txBody>
      </p:sp>
      <p:cxnSp>
        <p:nvCxnSpPr>
          <p:cNvPr id="91" name="Connector 14">
            <a:extLst>
              <a:ext uri="{FF2B5EF4-FFF2-40B4-BE49-F238E27FC236}">
                <a16:creationId xmlns:a16="http://schemas.microsoft.com/office/drawing/2014/main" id="{5550B11A-A14A-883B-AC85-63E697EA88A4}"/>
              </a:ext>
            </a:extLst>
          </p:cNvPr>
          <p:cNvCxnSpPr/>
          <p:nvPr/>
        </p:nvCxnSpPr>
        <p:spPr>
          <a:xfrm>
            <a:off x="7018936" y="2888216"/>
            <a:ext cx="335613" cy="0"/>
          </a:xfrm>
          <a:prstGeom prst="line">
            <a:avLst/>
          </a:prstGeom>
          <a:ln w="24130">
            <a:solidFill>
              <a:srgbClr val="C02B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Chevron 15">
            <a:extLst>
              <a:ext uri="{FF2B5EF4-FFF2-40B4-BE49-F238E27FC236}">
                <a16:creationId xmlns:a16="http://schemas.microsoft.com/office/drawing/2014/main" id="{76272C15-B40D-5EC4-E034-BA6BFB461310}"/>
              </a:ext>
            </a:extLst>
          </p:cNvPr>
          <p:cNvSpPr/>
          <p:nvPr/>
        </p:nvSpPr>
        <p:spPr>
          <a:xfrm>
            <a:off x="9368228" y="2659728"/>
            <a:ext cx="1006839" cy="456977"/>
          </a:xfrm>
          <a:prstGeom prst="chevron">
            <a:avLst/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Times New Roman"/>
              </a:rPr>
              <a:t>bit</a:t>
            </a:r>
          </a:p>
        </p:txBody>
      </p:sp>
      <p:cxnSp>
        <p:nvCxnSpPr>
          <p:cNvPr id="93" name="Connector 16">
            <a:extLst>
              <a:ext uri="{FF2B5EF4-FFF2-40B4-BE49-F238E27FC236}">
                <a16:creationId xmlns:a16="http://schemas.microsoft.com/office/drawing/2014/main" id="{8009640F-2C0C-5BD0-ACCB-68F3C7A04421}"/>
              </a:ext>
            </a:extLst>
          </p:cNvPr>
          <p:cNvCxnSpPr/>
          <p:nvPr/>
        </p:nvCxnSpPr>
        <p:spPr>
          <a:xfrm>
            <a:off x="8906760" y="2888216"/>
            <a:ext cx="461468" cy="0"/>
          </a:xfrm>
          <a:prstGeom prst="line">
            <a:avLst/>
          </a:prstGeom>
          <a:ln w="24130">
            <a:solidFill>
              <a:srgbClr val="C02B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17">
            <a:extLst>
              <a:ext uri="{FF2B5EF4-FFF2-40B4-BE49-F238E27FC236}">
                <a16:creationId xmlns:a16="http://schemas.microsoft.com/office/drawing/2014/main" id="{EB116713-7395-DEE4-0C96-776E7E57BC0F}"/>
              </a:ext>
            </a:extLst>
          </p:cNvPr>
          <p:cNvSpPr txBox="1"/>
          <p:nvPr/>
        </p:nvSpPr>
        <p:spPr>
          <a:xfrm>
            <a:off x="1783971" y="2320492"/>
            <a:ext cx="1258549" cy="2774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 dirty="0">
                <a:solidFill>
                  <a:srgbClr val="C02B2B"/>
                </a:solidFill>
                <a:latin typeface="Times New Roman"/>
              </a:rPr>
              <a:t>SIMD</a:t>
            </a:r>
          </a:p>
        </p:txBody>
      </p:sp>
      <p:sp>
        <p:nvSpPr>
          <p:cNvPr id="95" name="Rounded Rectangle 19">
            <a:extLst>
              <a:ext uri="{FF2B5EF4-FFF2-40B4-BE49-F238E27FC236}">
                <a16:creationId xmlns:a16="http://schemas.microsoft.com/office/drawing/2014/main" id="{507F1BBC-CFCF-0435-1EB4-EFC279A999FE}"/>
              </a:ext>
            </a:extLst>
          </p:cNvPr>
          <p:cNvSpPr/>
          <p:nvPr/>
        </p:nvSpPr>
        <p:spPr>
          <a:xfrm>
            <a:off x="977900" y="3483919"/>
            <a:ext cx="10236200" cy="2872430"/>
          </a:xfrm>
          <a:prstGeom prst="roundRect">
            <a:avLst>
              <a:gd name="adj" fmla="val 4000"/>
            </a:avLst>
          </a:prstGeom>
          <a:solidFill>
            <a:srgbClr val="E1EBF7"/>
          </a:solidFill>
          <a:ln w="2286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96" name="TextBox 20">
            <a:extLst>
              <a:ext uri="{FF2B5EF4-FFF2-40B4-BE49-F238E27FC236}">
                <a16:creationId xmlns:a16="http://schemas.microsoft.com/office/drawing/2014/main" id="{6C08BF27-208C-7843-F224-B776D5EDA942}"/>
              </a:ext>
            </a:extLst>
          </p:cNvPr>
          <p:cNvSpPr txBox="1"/>
          <p:nvPr/>
        </p:nvSpPr>
        <p:spPr>
          <a:xfrm>
            <a:off x="1229610" y="3532881"/>
            <a:ext cx="5873230" cy="3672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dirty="0">
                <a:solidFill>
                  <a:srgbClr val="1F4E8C"/>
                </a:solidFill>
                <a:latin typeface="Times New Roman"/>
              </a:rPr>
              <a:t>PE = 4  (Throughput)</a:t>
            </a:r>
          </a:p>
        </p:txBody>
      </p:sp>
      <p:sp>
        <p:nvSpPr>
          <p:cNvPr id="97" name="Pentagon 21">
            <a:extLst>
              <a:ext uri="{FF2B5EF4-FFF2-40B4-BE49-F238E27FC236}">
                <a16:creationId xmlns:a16="http://schemas.microsoft.com/office/drawing/2014/main" id="{84EB1500-9518-7B49-AF2A-54B9B20C003F}"/>
              </a:ext>
            </a:extLst>
          </p:cNvPr>
          <p:cNvSpPr/>
          <p:nvPr/>
        </p:nvSpPr>
        <p:spPr>
          <a:xfrm>
            <a:off x="1103755" y="4112263"/>
            <a:ext cx="1132694" cy="1999276"/>
          </a:xfrm>
          <a:prstGeom prst="homePlat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input</a:t>
            </a:r>
          </a:p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vector</a:t>
            </a:r>
          </a:p>
        </p:txBody>
      </p:sp>
      <p:sp>
        <p:nvSpPr>
          <p:cNvPr id="98" name="TextBox 22">
            <a:extLst>
              <a:ext uri="{FF2B5EF4-FFF2-40B4-BE49-F238E27FC236}">
                <a16:creationId xmlns:a16="http://schemas.microsoft.com/office/drawing/2014/main" id="{198A20C5-5C56-525B-8DDA-968ABCA037FA}"/>
              </a:ext>
            </a:extLst>
          </p:cNvPr>
          <p:cNvSpPr txBox="1"/>
          <p:nvPr/>
        </p:nvSpPr>
        <p:spPr>
          <a:xfrm>
            <a:off x="2597233" y="4158838"/>
            <a:ext cx="688007" cy="274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1F4E8C"/>
                </a:solidFill>
                <a:latin typeface="Times New Roman"/>
              </a:rPr>
              <a:t>PE0</a:t>
            </a:r>
          </a:p>
        </p:txBody>
      </p:sp>
      <p:cxnSp>
        <p:nvCxnSpPr>
          <p:cNvPr id="99" name="Connector 23">
            <a:extLst>
              <a:ext uri="{FF2B5EF4-FFF2-40B4-BE49-F238E27FC236}">
                <a16:creationId xmlns:a16="http://schemas.microsoft.com/office/drawing/2014/main" id="{CA3ABD33-DCC0-7F9B-3090-23557FF3D186}"/>
              </a:ext>
            </a:extLst>
          </p:cNvPr>
          <p:cNvCxnSpPr/>
          <p:nvPr/>
        </p:nvCxnSpPr>
        <p:spPr>
          <a:xfrm flipV="1">
            <a:off x="2152546" y="4357073"/>
            <a:ext cx="922936" cy="791550"/>
          </a:xfrm>
          <a:prstGeom prst="line">
            <a:avLst/>
          </a:prstGeom>
          <a:ln w="1651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24">
            <a:extLst>
              <a:ext uri="{FF2B5EF4-FFF2-40B4-BE49-F238E27FC236}">
                <a16:creationId xmlns:a16="http://schemas.microsoft.com/office/drawing/2014/main" id="{44C506B3-8EB6-26AA-B0AE-613A9B994164}"/>
              </a:ext>
            </a:extLst>
          </p:cNvPr>
          <p:cNvSpPr/>
          <p:nvPr/>
        </p:nvSpPr>
        <p:spPr>
          <a:xfrm>
            <a:off x="3075482" y="4153065"/>
            <a:ext cx="1006839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XNOR</a:t>
            </a:r>
          </a:p>
        </p:txBody>
      </p:sp>
      <p:sp>
        <p:nvSpPr>
          <p:cNvPr id="101" name="Rounded Rectangle 25">
            <a:extLst>
              <a:ext uri="{FF2B5EF4-FFF2-40B4-BE49-F238E27FC236}">
                <a16:creationId xmlns:a16="http://schemas.microsoft.com/office/drawing/2014/main" id="{4499EDB0-C4A8-973F-3E6F-3F73941BC46C}"/>
              </a:ext>
            </a:extLst>
          </p:cNvPr>
          <p:cNvSpPr/>
          <p:nvPr/>
        </p:nvSpPr>
        <p:spPr>
          <a:xfrm>
            <a:off x="4334031" y="4153065"/>
            <a:ext cx="1090743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Popcnt</a:t>
            </a:r>
          </a:p>
        </p:txBody>
      </p:sp>
      <p:cxnSp>
        <p:nvCxnSpPr>
          <p:cNvPr id="102" name="Connector 26">
            <a:extLst>
              <a:ext uri="{FF2B5EF4-FFF2-40B4-BE49-F238E27FC236}">
                <a16:creationId xmlns:a16="http://schemas.microsoft.com/office/drawing/2014/main" id="{A3ADC4F9-2493-008E-2377-CA854AD4A913}"/>
              </a:ext>
            </a:extLst>
          </p:cNvPr>
          <p:cNvCxnSpPr/>
          <p:nvPr/>
        </p:nvCxnSpPr>
        <p:spPr>
          <a:xfrm>
            <a:off x="4082321" y="4357073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27">
            <a:extLst>
              <a:ext uri="{FF2B5EF4-FFF2-40B4-BE49-F238E27FC236}">
                <a16:creationId xmlns:a16="http://schemas.microsoft.com/office/drawing/2014/main" id="{C17C301D-3BE3-DFA5-624E-904763F01C22}"/>
              </a:ext>
            </a:extLst>
          </p:cNvPr>
          <p:cNvSpPr/>
          <p:nvPr/>
        </p:nvSpPr>
        <p:spPr>
          <a:xfrm>
            <a:off x="5676484" y="4153065"/>
            <a:ext cx="1048791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Accum</a:t>
            </a:r>
          </a:p>
        </p:txBody>
      </p:sp>
      <p:cxnSp>
        <p:nvCxnSpPr>
          <p:cNvPr id="104" name="Connector 28">
            <a:extLst>
              <a:ext uri="{FF2B5EF4-FFF2-40B4-BE49-F238E27FC236}">
                <a16:creationId xmlns:a16="http://schemas.microsoft.com/office/drawing/2014/main" id="{BAD25F9F-4605-80C6-A29B-FDBD4EAB6E90}"/>
              </a:ext>
            </a:extLst>
          </p:cNvPr>
          <p:cNvCxnSpPr/>
          <p:nvPr/>
        </p:nvCxnSpPr>
        <p:spPr>
          <a:xfrm>
            <a:off x="5424774" y="4357073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29">
            <a:extLst>
              <a:ext uri="{FF2B5EF4-FFF2-40B4-BE49-F238E27FC236}">
                <a16:creationId xmlns:a16="http://schemas.microsoft.com/office/drawing/2014/main" id="{228C13EC-D163-1457-035B-60BB551BAFCB}"/>
              </a:ext>
            </a:extLst>
          </p:cNvPr>
          <p:cNvSpPr/>
          <p:nvPr/>
        </p:nvSpPr>
        <p:spPr>
          <a:xfrm>
            <a:off x="6976984" y="4153065"/>
            <a:ext cx="771910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Thr</a:t>
            </a:r>
          </a:p>
        </p:txBody>
      </p:sp>
      <p:cxnSp>
        <p:nvCxnSpPr>
          <p:cNvPr id="106" name="Connector 30">
            <a:extLst>
              <a:ext uri="{FF2B5EF4-FFF2-40B4-BE49-F238E27FC236}">
                <a16:creationId xmlns:a16="http://schemas.microsoft.com/office/drawing/2014/main" id="{B24D4146-43A7-59F2-0A8D-7FDBAEF8DD71}"/>
              </a:ext>
            </a:extLst>
          </p:cNvPr>
          <p:cNvCxnSpPr/>
          <p:nvPr/>
        </p:nvCxnSpPr>
        <p:spPr>
          <a:xfrm>
            <a:off x="6725275" y="4357073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hevron 31">
            <a:extLst>
              <a:ext uri="{FF2B5EF4-FFF2-40B4-BE49-F238E27FC236}">
                <a16:creationId xmlns:a16="http://schemas.microsoft.com/office/drawing/2014/main" id="{D7667C19-528C-0166-78E9-023DBB6A8BBF}"/>
              </a:ext>
            </a:extLst>
          </p:cNvPr>
          <p:cNvSpPr/>
          <p:nvPr/>
        </p:nvSpPr>
        <p:spPr>
          <a:xfrm>
            <a:off x="7899920" y="4153065"/>
            <a:ext cx="738349" cy="408016"/>
          </a:xfrm>
          <a:prstGeom prst="chevron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Times New Roman"/>
              </a:rPr>
              <a:t>bit</a:t>
            </a:r>
          </a:p>
        </p:txBody>
      </p:sp>
      <p:cxnSp>
        <p:nvCxnSpPr>
          <p:cNvPr id="108" name="Connector 32">
            <a:extLst>
              <a:ext uri="{FF2B5EF4-FFF2-40B4-BE49-F238E27FC236}">
                <a16:creationId xmlns:a16="http://schemas.microsoft.com/office/drawing/2014/main" id="{88436444-8BBB-3A4C-2751-739D7C1EC8E5}"/>
              </a:ext>
            </a:extLst>
          </p:cNvPr>
          <p:cNvCxnSpPr/>
          <p:nvPr/>
        </p:nvCxnSpPr>
        <p:spPr>
          <a:xfrm>
            <a:off x="7748895" y="4357073"/>
            <a:ext cx="151026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33">
            <a:extLst>
              <a:ext uri="{FF2B5EF4-FFF2-40B4-BE49-F238E27FC236}">
                <a16:creationId xmlns:a16="http://schemas.microsoft.com/office/drawing/2014/main" id="{9BC4720F-C4AA-362C-32D7-5BA8F43149DC}"/>
              </a:ext>
            </a:extLst>
          </p:cNvPr>
          <p:cNvSpPr txBox="1"/>
          <p:nvPr/>
        </p:nvSpPr>
        <p:spPr>
          <a:xfrm>
            <a:off x="2597233" y="4646560"/>
            <a:ext cx="688007" cy="274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1F4E8C"/>
                </a:solidFill>
                <a:latin typeface="Times New Roman"/>
              </a:rPr>
              <a:t>PE1</a:t>
            </a:r>
          </a:p>
        </p:txBody>
      </p:sp>
      <p:cxnSp>
        <p:nvCxnSpPr>
          <p:cNvPr id="110" name="Connector 34">
            <a:extLst>
              <a:ext uri="{FF2B5EF4-FFF2-40B4-BE49-F238E27FC236}">
                <a16:creationId xmlns:a16="http://schemas.microsoft.com/office/drawing/2014/main" id="{82AF2BE1-3F17-F9A6-89B5-4CED31ECC642}"/>
              </a:ext>
            </a:extLst>
          </p:cNvPr>
          <p:cNvCxnSpPr/>
          <p:nvPr/>
        </p:nvCxnSpPr>
        <p:spPr>
          <a:xfrm flipV="1">
            <a:off x="2152546" y="4879333"/>
            <a:ext cx="922936" cy="269290"/>
          </a:xfrm>
          <a:prstGeom prst="line">
            <a:avLst/>
          </a:prstGeom>
          <a:ln w="1651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35">
            <a:extLst>
              <a:ext uri="{FF2B5EF4-FFF2-40B4-BE49-F238E27FC236}">
                <a16:creationId xmlns:a16="http://schemas.microsoft.com/office/drawing/2014/main" id="{E0206F29-CA08-38EE-4990-DE1BCAF72F4A}"/>
              </a:ext>
            </a:extLst>
          </p:cNvPr>
          <p:cNvSpPr/>
          <p:nvPr/>
        </p:nvSpPr>
        <p:spPr>
          <a:xfrm>
            <a:off x="3075482" y="4675325"/>
            <a:ext cx="1006839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XNOR</a:t>
            </a:r>
          </a:p>
        </p:txBody>
      </p:sp>
      <p:sp>
        <p:nvSpPr>
          <p:cNvPr id="112" name="Rounded Rectangle 36">
            <a:extLst>
              <a:ext uri="{FF2B5EF4-FFF2-40B4-BE49-F238E27FC236}">
                <a16:creationId xmlns:a16="http://schemas.microsoft.com/office/drawing/2014/main" id="{0F69D2CC-8563-D553-3B25-633AE18E2464}"/>
              </a:ext>
            </a:extLst>
          </p:cNvPr>
          <p:cNvSpPr/>
          <p:nvPr/>
        </p:nvSpPr>
        <p:spPr>
          <a:xfrm>
            <a:off x="4334031" y="4675325"/>
            <a:ext cx="1090743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Popcnt</a:t>
            </a:r>
          </a:p>
        </p:txBody>
      </p:sp>
      <p:cxnSp>
        <p:nvCxnSpPr>
          <p:cNvPr id="113" name="Connector 37">
            <a:extLst>
              <a:ext uri="{FF2B5EF4-FFF2-40B4-BE49-F238E27FC236}">
                <a16:creationId xmlns:a16="http://schemas.microsoft.com/office/drawing/2014/main" id="{8E0990AB-DD7E-DA8A-2AF7-145AC109FCF0}"/>
              </a:ext>
            </a:extLst>
          </p:cNvPr>
          <p:cNvCxnSpPr/>
          <p:nvPr/>
        </p:nvCxnSpPr>
        <p:spPr>
          <a:xfrm>
            <a:off x="4082321" y="4879333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38">
            <a:extLst>
              <a:ext uri="{FF2B5EF4-FFF2-40B4-BE49-F238E27FC236}">
                <a16:creationId xmlns:a16="http://schemas.microsoft.com/office/drawing/2014/main" id="{4351E3BB-E172-D07C-E958-4050AE68FA3B}"/>
              </a:ext>
            </a:extLst>
          </p:cNvPr>
          <p:cNvSpPr/>
          <p:nvPr/>
        </p:nvSpPr>
        <p:spPr>
          <a:xfrm>
            <a:off x="5676484" y="4675325"/>
            <a:ext cx="1048791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Accum</a:t>
            </a:r>
          </a:p>
        </p:txBody>
      </p:sp>
      <p:cxnSp>
        <p:nvCxnSpPr>
          <p:cNvPr id="115" name="Connector 39">
            <a:extLst>
              <a:ext uri="{FF2B5EF4-FFF2-40B4-BE49-F238E27FC236}">
                <a16:creationId xmlns:a16="http://schemas.microsoft.com/office/drawing/2014/main" id="{A0C659E6-9C8F-8C5B-9074-C3A3D329671A}"/>
              </a:ext>
            </a:extLst>
          </p:cNvPr>
          <p:cNvCxnSpPr/>
          <p:nvPr/>
        </p:nvCxnSpPr>
        <p:spPr>
          <a:xfrm>
            <a:off x="5424774" y="4879333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40">
            <a:extLst>
              <a:ext uri="{FF2B5EF4-FFF2-40B4-BE49-F238E27FC236}">
                <a16:creationId xmlns:a16="http://schemas.microsoft.com/office/drawing/2014/main" id="{1F3F2DD9-D52C-81DC-9C4E-AEA2C7F71DE4}"/>
              </a:ext>
            </a:extLst>
          </p:cNvPr>
          <p:cNvSpPr/>
          <p:nvPr/>
        </p:nvSpPr>
        <p:spPr>
          <a:xfrm>
            <a:off x="6976984" y="4675325"/>
            <a:ext cx="771910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Thr</a:t>
            </a:r>
          </a:p>
        </p:txBody>
      </p:sp>
      <p:cxnSp>
        <p:nvCxnSpPr>
          <p:cNvPr id="117" name="Connector 41">
            <a:extLst>
              <a:ext uri="{FF2B5EF4-FFF2-40B4-BE49-F238E27FC236}">
                <a16:creationId xmlns:a16="http://schemas.microsoft.com/office/drawing/2014/main" id="{A0EC1684-59AA-E5CE-EE77-34F26F1A38CF}"/>
              </a:ext>
            </a:extLst>
          </p:cNvPr>
          <p:cNvCxnSpPr/>
          <p:nvPr/>
        </p:nvCxnSpPr>
        <p:spPr>
          <a:xfrm>
            <a:off x="6725275" y="4879333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Chevron 42">
            <a:extLst>
              <a:ext uri="{FF2B5EF4-FFF2-40B4-BE49-F238E27FC236}">
                <a16:creationId xmlns:a16="http://schemas.microsoft.com/office/drawing/2014/main" id="{9CB0CBA4-76C7-A169-7F68-2EE2BD5972F7}"/>
              </a:ext>
            </a:extLst>
          </p:cNvPr>
          <p:cNvSpPr/>
          <p:nvPr/>
        </p:nvSpPr>
        <p:spPr>
          <a:xfrm>
            <a:off x="7899920" y="4675325"/>
            <a:ext cx="738349" cy="408016"/>
          </a:xfrm>
          <a:prstGeom prst="chevron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bit</a:t>
            </a:r>
          </a:p>
        </p:txBody>
      </p:sp>
      <p:cxnSp>
        <p:nvCxnSpPr>
          <p:cNvPr id="119" name="Connector 43">
            <a:extLst>
              <a:ext uri="{FF2B5EF4-FFF2-40B4-BE49-F238E27FC236}">
                <a16:creationId xmlns:a16="http://schemas.microsoft.com/office/drawing/2014/main" id="{B00D0D89-11C4-2047-A3D3-27E6B5E8721D}"/>
              </a:ext>
            </a:extLst>
          </p:cNvPr>
          <p:cNvCxnSpPr/>
          <p:nvPr/>
        </p:nvCxnSpPr>
        <p:spPr>
          <a:xfrm>
            <a:off x="7748895" y="4879333"/>
            <a:ext cx="151026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44">
            <a:extLst>
              <a:ext uri="{FF2B5EF4-FFF2-40B4-BE49-F238E27FC236}">
                <a16:creationId xmlns:a16="http://schemas.microsoft.com/office/drawing/2014/main" id="{DCCC77CF-69B5-964F-6B33-A6269E201D2B}"/>
              </a:ext>
            </a:extLst>
          </p:cNvPr>
          <p:cNvSpPr txBox="1"/>
          <p:nvPr/>
        </p:nvSpPr>
        <p:spPr>
          <a:xfrm>
            <a:off x="2597233" y="5060251"/>
            <a:ext cx="688007" cy="274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1F4E8C"/>
                </a:solidFill>
                <a:latin typeface="Times New Roman"/>
              </a:rPr>
              <a:t>PE2</a:t>
            </a:r>
          </a:p>
        </p:txBody>
      </p:sp>
      <p:cxnSp>
        <p:nvCxnSpPr>
          <p:cNvPr id="121" name="Connector 45">
            <a:extLst>
              <a:ext uri="{FF2B5EF4-FFF2-40B4-BE49-F238E27FC236}">
                <a16:creationId xmlns:a16="http://schemas.microsoft.com/office/drawing/2014/main" id="{7F088570-50D7-3449-2C94-1AD361EAB628}"/>
              </a:ext>
            </a:extLst>
          </p:cNvPr>
          <p:cNvCxnSpPr/>
          <p:nvPr/>
        </p:nvCxnSpPr>
        <p:spPr>
          <a:xfrm>
            <a:off x="2152546" y="5148623"/>
            <a:ext cx="922936" cy="252970"/>
          </a:xfrm>
          <a:prstGeom prst="line">
            <a:avLst/>
          </a:prstGeom>
          <a:ln w="1651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46">
            <a:extLst>
              <a:ext uri="{FF2B5EF4-FFF2-40B4-BE49-F238E27FC236}">
                <a16:creationId xmlns:a16="http://schemas.microsoft.com/office/drawing/2014/main" id="{39556C05-3B33-AAE0-FFFA-26E9E97F96FA}"/>
              </a:ext>
            </a:extLst>
          </p:cNvPr>
          <p:cNvSpPr/>
          <p:nvPr/>
        </p:nvSpPr>
        <p:spPr>
          <a:xfrm>
            <a:off x="3075482" y="5197585"/>
            <a:ext cx="1006839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XNOR</a:t>
            </a:r>
          </a:p>
        </p:txBody>
      </p:sp>
      <p:sp>
        <p:nvSpPr>
          <p:cNvPr id="123" name="Rounded Rectangle 47">
            <a:extLst>
              <a:ext uri="{FF2B5EF4-FFF2-40B4-BE49-F238E27FC236}">
                <a16:creationId xmlns:a16="http://schemas.microsoft.com/office/drawing/2014/main" id="{7FFA7B77-F5F6-4F05-7035-CCCC19F54F2E}"/>
              </a:ext>
            </a:extLst>
          </p:cNvPr>
          <p:cNvSpPr/>
          <p:nvPr/>
        </p:nvSpPr>
        <p:spPr>
          <a:xfrm>
            <a:off x="4334031" y="5197585"/>
            <a:ext cx="1090743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Popcnt</a:t>
            </a:r>
          </a:p>
        </p:txBody>
      </p:sp>
      <p:cxnSp>
        <p:nvCxnSpPr>
          <p:cNvPr id="124" name="Connector 48">
            <a:extLst>
              <a:ext uri="{FF2B5EF4-FFF2-40B4-BE49-F238E27FC236}">
                <a16:creationId xmlns:a16="http://schemas.microsoft.com/office/drawing/2014/main" id="{C551022B-5137-CB0F-B8C9-56374373AA2B}"/>
              </a:ext>
            </a:extLst>
          </p:cNvPr>
          <p:cNvCxnSpPr/>
          <p:nvPr/>
        </p:nvCxnSpPr>
        <p:spPr>
          <a:xfrm>
            <a:off x="4082321" y="5401592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49">
            <a:extLst>
              <a:ext uri="{FF2B5EF4-FFF2-40B4-BE49-F238E27FC236}">
                <a16:creationId xmlns:a16="http://schemas.microsoft.com/office/drawing/2014/main" id="{495AFEAA-FD5E-D633-58BE-15D3A6C8BD1A}"/>
              </a:ext>
            </a:extLst>
          </p:cNvPr>
          <p:cNvSpPr/>
          <p:nvPr/>
        </p:nvSpPr>
        <p:spPr>
          <a:xfrm>
            <a:off x="5676484" y="5197585"/>
            <a:ext cx="1048791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Accum</a:t>
            </a:r>
          </a:p>
        </p:txBody>
      </p:sp>
      <p:cxnSp>
        <p:nvCxnSpPr>
          <p:cNvPr id="126" name="Connector 50">
            <a:extLst>
              <a:ext uri="{FF2B5EF4-FFF2-40B4-BE49-F238E27FC236}">
                <a16:creationId xmlns:a16="http://schemas.microsoft.com/office/drawing/2014/main" id="{8B57B943-4732-F31D-BC40-0139EAD54FFA}"/>
              </a:ext>
            </a:extLst>
          </p:cNvPr>
          <p:cNvCxnSpPr/>
          <p:nvPr/>
        </p:nvCxnSpPr>
        <p:spPr>
          <a:xfrm>
            <a:off x="5424774" y="5401592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51">
            <a:extLst>
              <a:ext uri="{FF2B5EF4-FFF2-40B4-BE49-F238E27FC236}">
                <a16:creationId xmlns:a16="http://schemas.microsoft.com/office/drawing/2014/main" id="{CCDC066D-6E45-B219-AA66-D06222791538}"/>
              </a:ext>
            </a:extLst>
          </p:cNvPr>
          <p:cNvSpPr/>
          <p:nvPr/>
        </p:nvSpPr>
        <p:spPr>
          <a:xfrm>
            <a:off x="6976984" y="5197585"/>
            <a:ext cx="771910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Thr</a:t>
            </a:r>
          </a:p>
        </p:txBody>
      </p:sp>
      <p:cxnSp>
        <p:nvCxnSpPr>
          <p:cNvPr id="128" name="Connector 52">
            <a:extLst>
              <a:ext uri="{FF2B5EF4-FFF2-40B4-BE49-F238E27FC236}">
                <a16:creationId xmlns:a16="http://schemas.microsoft.com/office/drawing/2014/main" id="{71341A83-5394-3D1F-74C5-72E59CE05093}"/>
              </a:ext>
            </a:extLst>
          </p:cNvPr>
          <p:cNvCxnSpPr/>
          <p:nvPr/>
        </p:nvCxnSpPr>
        <p:spPr>
          <a:xfrm>
            <a:off x="6725275" y="5401592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hevron 53">
            <a:extLst>
              <a:ext uri="{FF2B5EF4-FFF2-40B4-BE49-F238E27FC236}">
                <a16:creationId xmlns:a16="http://schemas.microsoft.com/office/drawing/2014/main" id="{8F561A0B-1411-C330-5A66-AC3C4EDC4531}"/>
              </a:ext>
            </a:extLst>
          </p:cNvPr>
          <p:cNvSpPr/>
          <p:nvPr/>
        </p:nvSpPr>
        <p:spPr>
          <a:xfrm>
            <a:off x="7899920" y="5197585"/>
            <a:ext cx="738349" cy="408016"/>
          </a:xfrm>
          <a:prstGeom prst="chevron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bit</a:t>
            </a:r>
          </a:p>
        </p:txBody>
      </p:sp>
      <p:cxnSp>
        <p:nvCxnSpPr>
          <p:cNvPr id="130" name="Connector 54">
            <a:extLst>
              <a:ext uri="{FF2B5EF4-FFF2-40B4-BE49-F238E27FC236}">
                <a16:creationId xmlns:a16="http://schemas.microsoft.com/office/drawing/2014/main" id="{12403EEB-764C-B3AE-8B2B-B33372EDA127}"/>
              </a:ext>
            </a:extLst>
          </p:cNvPr>
          <p:cNvCxnSpPr/>
          <p:nvPr/>
        </p:nvCxnSpPr>
        <p:spPr>
          <a:xfrm>
            <a:off x="7748895" y="5401592"/>
            <a:ext cx="151026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55">
            <a:extLst>
              <a:ext uri="{FF2B5EF4-FFF2-40B4-BE49-F238E27FC236}">
                <a16:creationId xmlns:a16="http://schemas.microsoft.com/office/drawing/2014/main" id="{B5C016C7-9E28-5F32-1479-CDEECC2A135F}"/>
              </a:ext>
            </a:extLst>
          </p:cNvPr>
          <p:cNvSpPr txBox="1"/>
          <p:nvPr/>
        </p:nvSpPr>
        <p:spPr>
          <a:xfrm>
            <a:off x="2597233" y="5372829"/>
            <a:ext cx="688007" cy="274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1F4E8C"/>
                </a:solidFill>
                <a:latin typeface="Times New Roman"/>
              </a:rPr>
              <a:t>PE3</a:t>
            </a:r>
          </a:p>
        </p:txBody>
      </p:sp>
      <p:cxnSp>
        <p:nvCxnSpPr>
          <p:cNvPr id="132" name="Connector 56">
            <a:extLst>
              <a:ext uri="{FF2B5EF4-FFF2-40B4-BE49-F238E27FC236}">
                <a16:creationId xmlns:a16="http://schemas.microsoft.com/office/drawing/2014/main" id="{C1F2C25C-95AF-D288-F01B-897E6BC25E29}"/>
              </a:ext>
            </a:extLst>
          </p:cNvPr>
          <p:cNvCxnSpPr/>
          <p:nvPr/>
        </p:nvCxnSpPr>
        <p:spPr>
          <a:xfrm>
            <a:off x="2152546" y="5148623"/>
            <a:ext cx="922936" cy="775230"/>
          </a:xfrm>
          <a:prstGeom prst="line">
            <a:avLst/>
          </a:prstGeom>
          <a:ln w="1651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57">
            <a:extLst>
              <a:ext uri="{FF2B5EF4-FFF2-40B4-BE49-F238E27FC236}">
                <a16:creationId xmlns:a16="http://schemas.microsoft.com/office/drawing/2014/main" id="{CAEE0E1A-BB8B-86DD-2AE7-377E2D248604}"/>
              </a:ext>
            </a:extLst>
          </p:cNvPr>
          <p:cNvSpPr/>
          <p:nvPr/>
        </p:nvSpPr>
        <p:spPr>
          <a:xfrm>
            <a:off x="3075482" y="5719845"/>
            <a:ext cx="1006839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XNOR</a:t>
            </a:r>
          </a:p>
        </p:txBody>
      </p:sp>
      <p:sp>
        <p:nvSpPr>
          <p:cNvPr id="134" name="Rounded Rectangle 58">
            <a:extLst>
              <a:ext uri="{FF2B5EF4-FFF2-40B4-BE49-F238E27FC236}">
                <a16:creationId xmlns:a16="http://schemas.microsoft.com/office/drawing/2014/main" id="{3135D0E7-4088-BB1C-4E34-8950848717B4}"/>
              </a:ext>
            </a:extLst>
          </p:cNvPr>
          <p:cNvSpPr/>
          <p:nvPr/>
        </p:nvSpPr>
        <p:spPr>
          <a:xfrm>
            <a:off x="4334031" y="5719845"/>
            <a:ext cx="1090743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Popcnt</a:t>
            </a:r>
          </a:p>
        </p:txBody>
      </p:sp>
      <p:cxnSp>
        <p:nvCxnSpPr>
          <p:cNvPr id="135" name="Connector 59">
            <a:extLst>
              <a:ext uri="{FF2B5EF4-FFF2-40B4-BE49-F238E27FC236}">
                <a16:creationId xmlns:a16="http://schemas.microsoft.com/office/drawing/2014/main" id="{7BF40FAF-47A7-877F-051B-943E242484CB}"/>
              </a:ext>
            </a:extLst>
          </p:cNvPr>
          <p:cNvCxnSpPr/>
          <p:nvPr/>
        </p:nvCxnSpPr>
        <p:spPr>
          <a:xfrm>
            <a:off x="4082321" y="5923852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60">
            <a:extLst>
              <a:ext uri="{FF2B5EF4-FFF2-40B4-BE49-F238E27FC236}">
                <a16:creationId xmlns:a16="http://schemas.microsoft.com/office/drawing/2014/main" id="{44578AD6-29E1-A951-FC95-64796F8C6296}"/>
              </a:ext>
            </a:extLst>
          </p:cNvPr>
          <p:cNvSpPr/>
          <p:nvPr/>
        </p:nvSpPr>
        <p:spPr>
          <a:xfrm>
            <a:off x="5676484" y="5719845"/>
            <a:ext cx="1048791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Accum</a:t>
            </a:r>
          </a:p>
        </p:txBody>
      </p:sp>
      <p:cxnSp>
        <p:nvCxnSpPr>
          <p:cNvPr id="137" name="Connector 61">
            <a:extLst>
              <a:ext uri="{FF2B5EF4-FFF2-40B4-BE49-F238E27FC236}">
                <a16:creationId xmlns:a16="http://schemas.microsoft.com/office/drawing/2014/main" id="{ED487774-87E9-58A1-7AB7-BFAB2690ABC7}"/>
              </a:ext>
            </a:extLst>
          </p:cNvPr>
          <p:cNvCxnSpPr/>
          <p:nvPr/>
        </p:nvCxnSpPr>
        <p:spPr>
          <a:xfrm>
            <a:off x="5424774" y="5923852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62">
            <a:extLst>
              <a:ext uri="{FF2B5EF4-FFF2-40B4-BE49-F238E27FC236}">
                <a16:creationId xmlns:a16="http://schemas.microsoft.com/office/drawing/2014/main" id="{D1C0EA04-A513-530C-3867-1238F4053A78}"/>
              </a:ext>
            </a:extLst>
          </p:cNvPr>
          <p:cNvSpPr/>
          <p:nvPr/>
        </p:nvSpPr>
        <p:spPr>
          <a:xfrm>
            <a:off x="6976984" y="5719845"/>
            <a:ext cx="771910" cy="408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222A33"/>
                </a:solidFill>
                <a:latin typeface="Times New Roman"/>
              </a:rPr>
              <a:t>Thr</a:t>
            </a:r>
          </a:p>
        </p:txBody>
      </p:sp>
      <p:cxnSp>
        <p:nvCxnSpPr>
          <p:cNvPr id="139" name="Connector 63">
            <a:extLst>
              <a:ext uri="{FF2B5EF4-FFF2-40B4-BE49-F238E27FC236}">
                <a16:creationId xmlns:a16="http://schemas.microsoft.com/office/drawing/2014/main" id="{9F75D306-CE2F-687B-924C-4522C228E125}"/>
              </a:ext>
            </a:extLst>
          </p:cNvPr>
          <p:cNvCxnSpPr/>
          <p:nvPr/>
        </p:nvCxnSpPr>
        <p:spPr>
          <a:xfrm>
            <a:off x="6725275" y="5923852"/>
            <a:ext cx="251710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Chevron 64">
            <a:extLst>
              <a:ext uri="{FF2B5EF4-FFF2-40B4-BE49-F238E27FC236}">
                <a16:creationId xmlns:a16="http://schemas.microsoft.com/office/drawing/2014/main" id="{7BDA42DA-7A2B-40DB-9581-4AD3693C22BB}"/>
              </a:ext>
            </a:extLst>
          </p:cNvPr>
          <p:cNvSpPr/>
          <p:nvPr/>
        </p:nvSpPr>
        <p:spPr>
          <a:xfrm>
            <a:off x="7899920" y="5719845"/>
            <a:ext cx="738349" cy="408016"/>
          </a:xfrm>
          <a:prstGeom prst="chevron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bit</a:t>
            </a:r>
          </a:p>
        </p:txBody>
      </p:sp>
      <p:cxnSp>
        <p:nvCxnSpPr>
          <p:cNvPr id="141" name="Connector 65">
            <a:extLst>
              <a:ext uri="{FF2B5EF4-FFF2-40B4-BE49-F238E27FC236}">
                <a16:creationId xmlns:a16="http://schemas.microsoft.com/office/drawing/2014/main" id="{1B0084F4-9022-715D-1CDB-BB9F65059D64}"/>
              </a:ext>
            </a:extLst>
          </p:cNvPr>
          <p:cNvCxnSpPr/>
          <p:nvPr/>
        </p:nvCxnSpPr>
        <p:spPr>
          <a:xfrm>
            <a:off x="7748895" y="5923852"/>
            <a:ext cx="151026" cy="0"/>
          </a:xfrm>
          <a:prstGeom prst="line">
            <a:avLst/>
          </a:prstGeom>
          <a:ln w="19050">
            <a:solidFill>
              <a:srgbClr val="1F4E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66">
            <a:extLst>
              <a:ext uri="{FF2B5EF4-FFF2-40B4-BE49-F238E27FC236}">
                <a16:creationId xmlns:a16="http://schemas.microsoft.com/office/drawing/2014/main" id="{A096DFAB-06EF-4115-BE4B-C18AD39BFA59}"/>
              </a:ext>
            </a:extLst>
          </p:cNvPr>
          <p:cNvSpPr/>
          <p:nvPr/>
        </p:nvSpPr>
        <p:spPr>
          <a:xfrm>
            <a:off x="9032615" y="4250988"/>
            <a:ext cx="2097582" cy="96291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zh-TW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 × SIMD binary operations per cycle</a:t>
            </a:r>
            <a:endParaRPr sz="20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Box 17">
            <a:extLst>
              <a:ext uri="{FF2B5EF4-FFF2-40B4-BE49-F238E27FC236}">
                <a16:creationId xmlns:a16="http://schemas.microsoft.com/office/drawing/2014/main" id="{33C4AA1A-9CC3-7B76-034C-E31662A861A5}"/>
              </a:ext>
            </a:extLst>
          </p:cNvPr>
          <p:cNvSpPr txBox="1"/>
          <p:nvPr/>
        </p:nvSpPr>
        <p:spPr>
          <a:xfrm>
            <a:off x="1615565" y="4340050"/>
            <a:ext cx="1258549" cy="302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F4E8C"/>
                </a:solidFill>
                <a:latin typeface="Times New Roman"/>
              </a:rPr>
              <a:t>SIMD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55</Words>
  <Application>Microsoft Office PowerPoint</Application>
  <PresentationFormat>寬螢幕</PresentationFormat>
  <Paragraphs>38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8</cp:revision>
  <dcterms:created xsi:type="dcterms:W3CDTF">2013-01-27T09:14:16Z</dcterms:created>
  <dcterms:modified xsi:type="dcterms:W3CDTF">2026-07-19T05:49:38Z</dcterms:modified>
  <cp:category/>
</cp:coreProperties>
</file>