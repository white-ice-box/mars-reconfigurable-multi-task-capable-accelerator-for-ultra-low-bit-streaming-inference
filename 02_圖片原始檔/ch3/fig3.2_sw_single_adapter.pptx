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56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5">
            <a:extLst>
              <a:ext uri="{FF2B5EF4-FFF2-40B4-BE49-F238E27FC236}">
                <a16:creationId xmlns:a16="http://schemas.microsoft.com/office/drawing/2014/main" id="{9665C1FE-A135-DD66-D3BB-747D1D44B817}"/>
              </a:ext>
            </a:extLst>
          </p:cNvPr>
          <p:cNvSpPr/>
          <p:nvPr/>
        </p:nvSpPr>
        <p:spPr>
          <a:xfrm>
            <a:off x="2337196" y="2956821"/>
            <a:ext cx="1907291" cy="2184547"/>
          </a:xfrm>
          <a:custGeom>
            <a:avLst/>
            <a:gdLst/>
            <a:ahLst/>
            <a:cxnLst/>
            <a:rect l="l" t="t" r="r" b="b"/>
            <a:pathLst>
              <a:path w="1762049" h="1874520">
                <a:moveTo>
                  <a:pt x="0" y="0"/>
                </a:moveTo>
                <a:lnTo>
                  <a:pt x="1762049" y="665500"/>
                </a:lnTo>
                <a:lnTo>
                  <a:pt x="1762049" y="1209111"/>
                </a:lnTo>
                <a:lnTo>
                  <a:pt x="0" y="1874520"/>
                </a:lnTo>
                <a:close/>
              </a:path>
            </a:pathLst>
          </a:custGeom>
          <a:solidFill>
            <a:srgbClr val="F6D3BC"/>
          </a:solidFill>
          <a:ln w="20320">
            <a:solidFill>
              <a:srgbClr val="C75B3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3" name="Shape 6">
            <a:extLst>
              <a:ext uri="{FF2B5EF4-FFF2-40B4-BE49-F238E27FC236}">
                <a16:creationId xmlns:a16="http://schemas.microsoft.com/office/drawing/2014/main" id="{B1D5A3AD-8C12-4189-B690-DE4C6D6328C5}"/>
              </a:ext>
            </a:extLst>
          </p:cNvPr>
          <p:cNvSpPr/>
          <p:nvPr/>
        </p:nvSpPr>
        <p:spPr>
          <a:xfrm>
            <a:off x="7830872" y="2956821"/>
            <a:ext cx="1805839" cy="2184547"/>
          </a:xfrm>
          <a:custGeom>
            <a:avLst/>
            <a:gdLst/>
            <a:ahLst/>
            <a:cxnLst/>
            <a:rect l="l" t="t" r="r" b="b"/>
            <a:pathLst>
              <a:path w="1668323" h="1874520">
                <a:moveTo>
                  <a:pt x="0" y="665500"/>
                </a:moveTo>
                <a:lnTo>
                  <a:pt x="1668323" y="0"/>
                </a:lnTo>
                <a:lnTo>
                  <a:pt x="1668323" y="1874520"/>
                </a:lnTo>
                <a:lnTo>
                  <a:pt x="0" y="1209111"/>
                </a:lnTo>
                <a:close/>
              </a:path>
            </a:pathLst>
          </a:custGeom>
          <a:solidFill>
            <a:srgbClr val="F6D3BC"/>
          </a:solidFill>
          <a:ln w="20320">
            <a:solidFill>
              <a:srgbClr val="C75B3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5" name="Shape 7">
            <a:extLst>
              <a:ext uri="{FF2B5EF4-FFF2-40B4-BE49-F238E27FC236}">
                <a16:creationId xmlns:a16="http://schemas.microsoft.com/office/drawing/2014/main" id="{15F8268C-6C6D-D38B-9296-1693FC59F607}"/>
              </a:ext>
            </a:extLst>
          </p:cNvPr>
          <p:cNvSpPr/>
          <p:nvPr/>
        </p:nvSpPr>
        <p:spPr>
          <a:xfrm>
            <a:off x="2337196" y="2782057"/>
            <a:ext cx="243483" cy="2359311"/>
          </a:xfrm>
          <a:custGeom>
            <a:avLst/>
            <a:gdLst/>
            <a:ahLst/>
            <a:cxnLst/>
            <a:rect l="l" t="t" r="r" b="b"/>
            <a:pathLst>
              <a:path w="224942" h="2024482">
                <a:moveTo>
                  <a:pt x="0" y="149962"/>
                </a:moveTo>
                <a:lnTo>
                  <a:pt x="224942" y="0"/>
                </a:lnTo>
                <a:lnTo>
                  <a:pt x="224942" y="1874520"/>
                </a:lnTo>
                <a:lnTo>
                  <a:pt x="0" y="2024482"/>
                </a:lnTo>
                <a:close/>
              </a:path>
            </a:pathLst>
          </a:custGeom>
          <a:solidFill>
            <a:srgbClr val="C2D2E1"/>
          </a:solidFill>
          <a:ln w="15875">
            <a:solidFill>
              <a:srgbClr val="5E7B9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6" name="Shape 8">
            <a:extLst>
              <a:ext uri="{FF2B5EF4-FFF2-40B4-BE49-F238E27FC236}">
                <a16:creationId xmlns:a16="http://schemas.microsoft.com/office/drawing/2014/main" id="{5EB6364F-2A8F-F013-4AD3-B5AC4D7B8212}"/>
              </a:ext>
            </a:extLst>
          </p:cNvPr>
          <p:cNvSpPr/>
          <p:nvPr/>
        </p:nvSpPr>
        <p:spPr>
          <a:xfrm>
            <a:off x="1606744" y="2782057"/>
            <a:ext cx="973936" cy="174764"/>
          </a:xfrm>
          <a:custGeom>
            <a:avLst/>
            <a:gdLst/>
            <a:ahLst/>
            <a:cxnLst/>
            <a:rect l="l" t="t" r="r" b="b"/>
            <a:pathLst>
              <a:path w="899770" h="149962">
                <a:moveTo>
                  <a:pt x="0" y="149962"/>
                </a:moveTo>
                <a:lnTo>
                  <a:pt x="674827" y="149962"/>
                </a:lnTo>
                <a:lnTo>
                  <a:pt x="899770" y="0"/>
                </a:lnTo>
                <a:lnTo>
                  <a:pt x="224851" y="0"/>
                </a:lnTo>
                <a:close/>
              </a:path>
            </a:pathLst>
          </a:custGeom>
          <a:solidFill>
            <a:srgbClr val="ECF2F9"/>
          </a:solidFill>
          <a:ln w="15875">
            <a:solidFill>
              <a:srgbClr val="5E7B9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4" name="Shape 9">
            <a:extLst>
              <a:ext uri="{FF2B5EF4-FFF2-40B4-BE49-F238E27FC236}">
                <a16:creationId xmlns:a16="http://schemas.microsoft.com/office/drawing/2014/main" id="{27A8D1E5-F824-82CA-6EAD-3F4F6F9D6AA3}"/>
              </a:ext>
            </a:extLst>
          </p:cNvPr>
          <p:cNvSpPr/>
          <p:nvPr/>
        </p:nvSpPr>
        <p:spPr>
          <a:xfrm>
            <a:off x="1606744" y="2956821"/>
            <a:ext cx="730451" cy="2184547"/>
          </a:xfrm>
          <a:prstGeom prst="rect">
            <a:avLst/>
          </a:prstGeom>
          <a:solidFill>
            <a:srgbClr val="DCE6F0"/>
          </a:solidFill>
          <a:ln w="15875">
            <a:solidFill>
              <a:srgbClr val="5E7B99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5" name="Shape 10">
            <a:extLst>
              <a:ext uri="{FF2B5EF4-FFF2-40B4-BE49-F238E27FC236}">
                <a16:creationId xmlns:a16="http://schemas.microsoft.com/office/drawing/2014/main" id="{72423678-3985-D60D-1A75-D72DEB7BB8A7}"/>
              </a:ext>
            </a:extLst>
          </p:cNvPr>
          <p:cNvSpPr/>
          <p:nvPr/>
        </p:nvSpPr>
        <p:spPr>
          <a:xfrm>
            <a:off x="5390838" y="3557625"/>
            <a:ext cx="243583" cy="808282"/>
          </a:xfrm>
          <a:custGeom>
            <a:avLst/>
            <a:gdLst/>
            <a:ahLst/>
            <a:cxnLst/>
            <a:rect l="l" t="t" r="r" b="b"/>
            <a:pathLst>
              <a:path w="225034" h="693572">
                <a:moveTo>
                  <a:pt x="0" y="149962"/>
                </a:moveTo>
                <a:lnTo>
                  <a:pt x="225034" y="0"/>
                </a:lnTo>
                <a:lnTo>
                  <a:pt x="225034" y="543611"/>
                </a:lnTo>
                <a:lnTo>
                  <a:pt x="0" y="693572"/>
                </a:lnTo>
                <a:close/>
              </a:path>
            </a:pathLst>
          </a:custGeom>
          <a:solidFill>
            <a:srgbClr val="D2CABB"/>
          </a:solidFill>
          <a:ln w="15875">
            <a:solidFill>
              <a:srgbClr val="9A8E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6" name="Shape 11">
            <a:extLst>
              <a:ext uri="{FF2B5EF4-FFF2-40B4-BE49-F238E27FC236}">
                <a16:creationId xmlns:a16="http://schemas.microsoft.com/office/drawing/2014/main" id="{74E32753-A093-75BD-A580-0F6B378F1B83}"/>
              </a:ext>
            </a:extLst>
          </p:cNvPr>
          <p:cNvSpPr/>
          <p:nvPr/>
        </p:nvSpPr>
        <p:spPr>
          <a:xfrm>
            <a:off x="4761938" y="3557625"/>
            <a:ext cx="872484" cy="174764"/>
          </a:xfrm>
          <a:custGeom>
            <a:avLst/>
            <a:gdLst/>
            <a:ahLst/>
            <a:cxnLst/>
            <a:rect l="l" t="t" r="r" b="b"/>
            <a:pathLst>
              <a:path w="806044" h="149962">
                <a:moveTo>
                  <a:pt x="0" y="149962"/>
                </a:moveTo>
                <a:lnTo>
                  <a:pt x="581010" y="149962"/>
                </a:lnTo>
                <a:lnTo>
                  <a:pt x="806044" y="0"/>
                </a:lnTo>
                <a:lnTo>
                  <a:pt x="224851" y="0"/>
                </a:lnTo>
                <a:close/>
              </a:path>
            </a:pathLst>
          </a:custGeom>
          <a:solidFill>
            <a:srgbClr val="F3EFE7"/>
          </a:solidFill>
          <a:ln w="15875">
            <a:solidFill>
              <a:srgbClr val="9A8E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7" name="Shape 12">
            <a:extLst>
              <a:ext uri="{FF2B5EF4-FFF2-40B4-BE49-F238E27FC236}">
                <a16:creationId xmlns:a16="http://schemas.microsoft.com/office/drawing/2014/main" id="{38CCE572-B78A-4D4D-4B4C-7A37B11FE91D}"/>
              </a:ext>
            </a:extLst>
          </p:cNvPr>
          <p:cNvSpPr/>
          <p:nvPr/>
        </p:nvSpPr>
        <p:spPr>
          <a:xfrm>
            <a:off x="4761938" y="3732388"/>
            <a:ext cx="629000" cy="633519"/>
          </a:xfrm>
          <a:prstGeom prst="rect">
            <a:avLst/>
          </a:prstGeom>
          <a:solidFill>
            <a:srgbClr val="E6DECF"/>
          </a:solidFill>
          <a:ln w="15875">
            <a:solidFill>
              <a:srgbClr val="9A8E7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9" name="Shape 13">
            <a:extLst>
              <a:ext uri="{FF2B5EF4-FFF2-40B4-BE49-F238E27FC236}">
                <a16:creationId xmlns:a16="http://schemas.microsoft.com/office/drawing/2014/main" id="{0D6E4BEC-BB42-FF95-903F-525AAA7209CB}"/>
              </a:ext>
            </a:extLst>
          </p:cNvPr>
          <p:cNvSpPr/>
          <p:nvPr/>
        </p:nvSpPr>
        <p:spPr>
          <a:xfrm>
            <a:off x="7790291" y="3557625"/>
            <a:ext cx="243483" cy="808282"/>
          </a:xfrm>
          <a:custGeom>
            <a:avLst/>
            <a:gdLst/>
            <a:ahLst/>
            <a:cxnLst/>
            <a:rect l="l" t="t" r="r" b="b"/>
            <a:pathLst>
              <a:path w="224942" h="693572">
                <a:moveTo>
                  <a:pt x="0" y="149962"/>
                </a:moveTo>
                <a:lnTo>
                  <a:pt x="224942" y="0"/>
                </a:lnTo>
                <a:lnTo>
                  <a:pt x="224942" y="543611"/>
                </a:lnTo>
                <a:lnTo>
                  <a:pt x="0" y="693572"/>
                </a:lnTo>
                <a:close/>
              </a:path>
            </a:pathLst>
          </a:custGeom>
          <a:solidFill>
            <a:srgbClr val="BFBFBF"/>
          </a:solidFill>
          <a:ln w="1587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0" name="Shape 14">
            <a:extLst>
              <a:ext uri="{FF2B5EF4-FFF2-40B4-BE49-F238E27FC236}">
                <a16:creationId xmlns:a16="http://schemas.microsoft.com/office/drawing/2014/main" id="{8929CB4E-E833-7E22-9F86-03E0DF36BA41}"/>
              </a:ext>
            </a:extLst>
          </p:cNvPr>
          <p:cNvSpPr/>
          <p:nvPr/>
        </p:nvSpPr>
        <p:spPr>
          <a:xfrm>
            <a:off x="7161291" y="3557625"/>
            <a:ext cx="872484" cy="174764"/>
          </a:xfrm>
          <a:custGeom>
            <a:avLst/>
            <a:gdLst/>
            <a:ahLst/>
            <a:cxnLst/>
            <a:rect l="l" t="t" r="r" b="b"/>
            <a:pathLst>
              <a:path w="806044" h="149962">
                <a:moveTo>
                  <a:pt x="0" y="149962"/>
                </a:moveTo>
                <a:lnTo>
                  <a:pt x="581101" y="149962"/>
                </a:lnTo>
                <a:lnTo>
                  <a:pt x="806044" y="0"/>
                </a:lnTo>
                <a:lnTo>
                  <a:pt x="224942" y="0"/>
                </a:lnTo>
                <a:close/>
              </a:path>
            </a:pathLst>
          </a:custGeom>
          <a:solidFill>
            <a:srgbClr val="DBDBDB"/>
          </a:solidFill>
          <a:ln w="1587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1" name="Shape 15">
            <a:extLst>
              <a:ext uri="{FF2B5EF4-FFF2-40B4-BE49-F238E27FC236}">
                <a16:creationId xmlns:a16="http://schemas.microsoft.com/office/drawing/2014/main" id="{251D4CDC-2654-07C3-4545-51F0E4FB6B67}"/>
              </a:ext>
            </a:extLst>
          </p:cNvPr>
          <p:cNvSpPr/>
          <p:nvPr/>
        </p:nvSpPr>
        <p:spPr>
          <a:xfrm>
            <a:off x="7161291" y="3732388"/>
            <a:ext cx="629000" cy="633519"/>
          </a:xfrm>
          <a:prstGeom prst="rect">
            <a:avLst/>
          </a:prstGeom>
          <a:solidFill>
            <a:srgbClr val="2B2B2B"/>
          </a:solidFill>
          <a:ln w="15875">
            <a:solidFill>
              <a:srgbClr val="2B2B2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2" name="Shape 16">
            <a:extLst>
              <a:ext uri="{FF2B5EF4-FFF2-40B4-BE49-F238E27FC236}">
                <a16:creationId xmlns:a16="http://schemas.microsoft.com/office/drawing/2014/main" id="{5CD7E694-48A2-19E2-9A6B-0E44CF8A538E}"/>
              </a:ext>
            </a:extLst>
          </p:cNvPr>
          <p:cNvSpPr/>
          <p:nvPr/>
        </p:nvSpPr>
        <p:spPr>
          <a:xfrm>
            <a:off x="7161291" y="3837886"/>
            <a:ext cx="629000" cy="105604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3" name="Shape 17">
            <a:extLst>
              <a:ext uri="{FF2B5EF4-FFF2-40B4-BE49-F238E27FC236}">
                <a16:creationId xmlns:a16="http://schemas.microsoft.com/office/drawing/2014/main" id="{C78EAECB-5DEA-3ECF-485C-BEC42AA6D986}"/>
              </a:ext>
            </a:extLst>
          </p:cNvPr>
          <p:cNvSpPr/>
          <p:nvPr/>
        </p:nvSpPr>
        <p:spPr>
          <a:xfrm>
            <a:off x="7161291" y="4049094"/>
            <a:ext cx="629000" cy="105604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4" name="Shape 18">
            <a:extLst>
              <a:ext uri="{FF2B5EF4-FFF2-40B4-BE49-F238E27FC236}">
                <a16:creationId xmlns:a16="http://schemas.microsoft.com/office/drawing/2014/main" id="{B6484822-8045-855D-DFFF-8877ADD06C9A}"/>
              </a:ext>
            </a:extLst>
          </p:cNvPr>
          <p:cNvSpPr/>
          <p:nvPr/>
        </p:nvSpPr>
        <p:spPr>
          <a:xfrm>
            <a:off x="7161291" y="4260302"/>
            <a:ext cx="629000" cy="105604"/>
          </a:xfrm>
          <a:prstGeom prst="rect">
            <a:avLst/>
          </a:prstGeom>
          <a:solidFill>
            <a:srgbClr val="F4F4F4"/>
          </a:solidFill>
          <a:ln w="12700">
            <a:solidFill>
              <a:srgbClr val="F4F4F4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5" name="Shape 19">
            <a:extLst>
              <a:ext uri="{FF2B5EF4-FFF2-40B4-BE49-F238E27FC236}">
                <a16:creationId xmlns:a16="http://schemas.microsoft.com/office/drawing/2014/main" id="{7A7D9183-9083-8BC2-C82D-1EE2F5E36252}"/>
              </a:ext>
            </a:extLst>
          </p:cNvPr>
          <p:cNvSpPr/>
          <p:nvPr/>
        </p:nvSpPr>
        <p:spPr>
          <a:xfrm>
            <a:off x="10367163" y="2782057"/>
            <a:ext cx="243483" cy="2359311"/>
          </a:xfrm>
          <a:custGeom>
            <a:avLst/>
            <a:gdLst/>
            <a:ahLst/>
            <a:cxnLst/>
            <a:rect l="l" t="t" r="r" b="b"/>
            <a:pathLst>
              <a:path w="224942" h="2024482">
                <a:moveTo>
                  <a:pt x="0" y="149962"/>
                </a:moveTo>
                <a:lnTo>
                  <a:pt x="224942" y="0"/>
                </a:lnTo>
                <a:lnTo>
                  <a:pt x="224942" y="1874520"/>
                </a:lnTo>
                <a:lnTo>
                  <a:pt x="0" y="2024482"/>
                </a:lnTo>
                <a:close/>
              </a:path>
            </a:pathLst>
          </a:custGeom>
          <a:solidFill>
            <a:srgbClr val="D0C6E6"/>
          </a:solidFill>
          <a:ln w="15875">
            <a:solidFill>
              <a:srgbClr val="6E5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6" name="Shape 20">
            <a:extLst>
              <a:ext uri="{FF2B5EF4-FFF2-40B4-BE49-F238E27FC236}">
                <a16:creationId xmlns:a16="http://schemas.microsoft.com/office/drawing/2014/main" id="{0C484005-3CDA-DF94-380F-486151E39F5E}"/>
              </a:ext>
            </a:extLst>
          </p:cNvPr>
          <p:cNvSpPr/>
          <p:nvPr/>
        </p:nvSpPr>
        <p:spPr>
          <a:xfrm>
            <a:off x="9636711" y="2782057"/>
            <a:ext cx="973936" cy="174764"/>
          </a:xfrm>
          <a:custGeom>
            <a:avLst/>
            <a:gdLst/>
            <a:ahLst/>
            <a:cxnLst/>
            <a:rect l="l" t="t" r="r" b="b"/>
            <a:pathLst>
              <a:path w="899770" h="149962">
                <a:moveTo>
                  <a:pt x="0" y="149962"/>
                </a:moveTo>
                <a:lnTo>
                  <a:pt x="674827" y="149962"/>
                </a:lnTo>
                <a:lnTo>
                  <a:pt x="899770" y="0"/>
                </a:lnTo>
                <a:lnTo>
                  <a:pt x="224851" y="0"/>
                </a:lnTo>
                <a:close/>
              </a:path>
            </a:pathLst>
          </a:custGeom>
          <a:solidFill>
            <a:srgbClr val="F0ECF8"/>
          </a:solidFill>
          <a:ln w="15875">
            <a:solidFill>
              <a:srgbClr val="6E5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7" name="Shape 21">
            <a:extLst>
              <a:ext uri="{FF2B5EF4-FFF2-40B4-BE49-F238E27FC236}">
                <a16:creationId xmlns:a16="http://schemas.microsoft.com/office/drawing/2014/main" id="{36E3A4B9-AAE3-2587-F45D-4211F1B1632E}"/>
              </a:ext>
            </a:extLst>
          </p:cNvPr>
          <p:cNvSpPr/>
          <p:nvPr/>
        </p:nvSpPr>
        <p:spPr>
          <a:xfrm>
            <a:off x="9636711" y="2956821"/>
            <a:ext cx="730451" cy="2184547"/>
          </a:xfrm>
          <a:prstGeom prst="rect">
            <a:avLst/>
          </a:prstGeom>
          <a:solidFill>
            <a:srgbClr val="E5DEF1"/>
          </a:solidFill>
          <a:ln w="15875">
            <a:solidFill>
              <a:srgbClr val="6E5FA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8" name="Shape 22">
            <a:extLst>
              <a:ext uri="{FF2B5EF4-FFF2-40B4-BE49-F238E27FC236}">
                <a16:creationId xmlns:a16="http://schemas.microsoft.com/office/drawing/2014/main" id="{591AB064-5B0B-A95F-ED6D-0804D318EF46}"/>
              </a:ext>
            </a:extLst>
          </p:cNvPr>
          <p:cNvSpPr/>
          <p:nvPr/>
        </p:nvSpPr>
        <p:spPr>
          <a:xfrm>
            <a:off x="4214001" y="3863460"/>
            <a:ext cx="344935" cy="371372"/>
          </a:xfrm>
          <a:prstGeom prst="ellipse">
            <a:avLst/>
          </a:prstGeom>
          <a:solidFill>
            <a:srgbClr val="FFFFFF"/>
          </a:solidFill>
          <a:ln w="27940">
            <a:solidFill>
              <a:srgbClr val="C75B30"/>
            </a:solidFill>
            <a:prstDash val="solid"/>
          </a:ln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9" name="Shape 23">
            <a:extLst>
              <a:ext uri="{FF2B5EF4-FFF2-40B4-BE49-F238E27FC236}">
                <a16:creationId xmlns:a16="http://schemas.microsoft.com/office/drawing/2014/main" id="{7AAC916C-F73B-2095-7977-274FC5D37AF4}"/>
              </a:ext>
            </a:extLst>
          </p:cNvPr>
          <p:cNvSpPr/>
          <p:nvPr/>
        </p:nvSpPr>
        <p:spPr>
          <a:xfrm>
            <a:off x="4305258" y="4049094"/>
            <a:ext cx="162323" cy="0"/>
          </a:xfrm>
          <a:prstGeom prst="line">
            <a:avLst/>
          </a:prstGeom>
          <a:noFill/>
          <a:ln w="27940">
            <a:solidFill>
              <a:srgbClr val="C75B3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0" name="Shape 24">
            <a:extLst>
              <a:ext uri="{FF2B5EF4-FFF2-40B4-BE49-F238E27FC236}">
                <a16:creationId xmlns:a16="http://schemas.microsoft.com/office/drawing/2014/main" id="{DB529F33-10C5-45E6-DE05-FDA6427DD504}"/>
              </a:ext>
            </a:extLst>
          </p:cNvPr>
          <p:cNvSpPr/>
          <p:nvPr/>
        </p:nvSpPr>
        <p:spPr>
          <a:xfrm>
            <a:off x="4386419" y="3961712"/>
            <a:ext cx="0" cy="174764"/>
          </a:xfrm>
          <a:prstGeom prst="line">
            <a:avLst/>
          </a:prstGeom>
          <a:noFill/>
          <a:ln w="27940">
            <a:solidFill>
              <a:srgbClr val="C75B3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1" name="Shape 25">
            <a:extLst>
              <a:ext uri="{FF2B5EF4-FFF2-40B4-BE49-F238E27FC236}">
                <a16:creationId xmlns:a16="http://schemas.microsoft.com/office/drawing/2014/main" id="{38DA39C2-3A54-4C4A-1578-CFFEF341F27C}"/>
              </a:ext>
            </a:extLst>
          </p:cNvPr>
          <p:cNvSpPr/>
          <p:nvPr/>
        </p:nvSpPr>
        <p:spPr>
          <a:xfrm>
            <a:off x="3747422" y="2978666"/>
            <a:ext cx="1521774" cy="436909"/>
          </a:xfrm>
          <a:prstGeom prst="roundRect">
            <a:avLst>
              <a:gd name="adj" fmla="val 21951"/>
            </a:avLst>
          </a:prstGeom>
          <a:solidFill>
            <a:srgbClr val="EAE3F4"/>
          </a:solidFill>
          <a:ln w="19050">
            <a:solidFill>
              <a:srgbClr val="7C6AB0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2" name="Text 26">
            <a:extLst>
              <a:ext uri="{FF2B5EF4-FFF2-40B4-BE49-F238E27FC236}">
                <a16:creationId xmlns:a16="http://schemas.microsoft.com/office/drawing/2014/main" id="{46F8D07F-11A8-2B96-0296-5209EC5CBD78}"/>
              </a:ext>
            </a:extLst>
          </p:cNvPr>
          <p:cNvSpPr/>
          <p:nvPr/>
        </p:nvSpPr>
        <p:spPr>
          <a:xfrm>
            <a:off x="3567481" y="3046333"/>
            <a:ext cx="1880567" cy="328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80" b="1" dirty="0">
                <a:solidFill>
                  <a:srgbClr val="4E3F8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RC bias</a:t>
            </a:r>
            <a:endParaRPr lang="en-US" sz="1480" dirty="0"/>
          </a:p>
        </p:txBody>
      </p:sp>
      <p:sp>
        <p:nvSpPr>
          <p:cNvPr id="103" name="Shape 27">
            <a:extLst>
              <a:ext uri="{FF2B5EF4-FFF2-40B4-BE49-F238E27FC236}">
                <a16:creationId xmlns:a16="http://schemas.microsoft.com/office/drawing/2014/main" id="{0E4263C7-FEE0-D80C-FB6B-C71AABC81976}"/>
              </a:ext>
            </a:extLst>
          </p:cNvPr>
          <p:cNvSpPr/>
          <p:nvPr/>
        </p:nvSpPr>
        <p:spPr>
          <a:xfrm>
            <a:off x="4386419" y="3415575"/>
            <a:ext cx="0" cy="447885"/>
          </a:xfrm>
          <a:prstGeom prst="line">
            <a:avLst/>
          </a:prstGeom>
          <a:noFill/>
          <a:ln w="27940">
            <a:solidFill>
              <a:srgbClr val="7C6AB0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4" name="Shape 28">
            <a:extLst>
              <a:ext uri="{FF2B5EF4-FFF2-40B4-BE49-F238E27FC236}">
                <a16:creationId xmlns:a16="http://schemas.microsoft.com/office/drawing/2014/main" id="{AC1D5E28-50EE-FE96-D239-7A4C4D00A6F1}"/>
              </a:ext>
            </a:extLst>
          </p:cNvPr>
          <p:cNvSpPr/>
          <p:nvPr/>
        </p:nvSpPr>
        <p:spPr>
          <a:xfrm>
            <a:off x="5883002" y="3579470"/>
            <a:ext cx="872484" cy="939356"/>
          </a:xfrm>
          <a:prstGeom prst="roundRect">
            <a:avLst>
              <a:gd name="adj" fmla="val 10210"/>
            </a:avLst>
          </a:prstGeom>
          <a:solidFill>
            <a:srgbClr val="FBF1D8"/>
          </a:solidFill>
          <a:ln w="2032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5" name="Shape 29">
            <a:extLst>
              <a:ext uri="{FF2B5EF4-FFF2-40B4-BE49-F238E27FC236}">
                <a16:creationId xmlns:a16="http://schemas.microsoft.com/office/drawing/2014/main" id="{1588280A-60EE-EACB-4954-8AE439C73C55}"/>
              </a:ext>
            </a:extLst>
          </p:cNvPr>
          <p:cNvSpPr/>
          <p:nvPr/>
        </p:nvSpPr>
        <p:spPr>
          <a:xfrm>
            <a:off x="6319194" y="3721412"/>
            <a:ext cx="0" cy="655364"/>
          </a:xfrm>
          <a:prstGeom prst="line">
            <a:avLst/>
          </a:prstGeom>
          <a:noFill/>
          <a:ln w="11430">
            <a:solidFill>
              <a:srgbClr val="C9A227"/>
            </a:solidFill>
            <a:prstDash val="dash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6" name="Shape 30">
            <a:extLst>
              <a:ext uri="{FF2B5EF4-FFF2-40B4-BE49-F238E27FC236}">
                <a16:creationId xmlns:a16="http://schemas.microsoft.com/office/drawing/2014/main" id="{43483A25-7429-C434-11F5-CC28C0B01F9C}"/>
              </a:ext>
            </a:extLst>
          </p:cNvPr>
          <p:cNvSpPr/>
          <p:nvPr/>
        </p:nvSpPr>
        <p:spPr>
          <a:xfrm>
            <a:off x="6035129" y="4311239"/>
            <a:ext cx="284065" cy="0"/>
          </a:xfrm>
          <a:prstGeom prst="line">
            <a:avLst/>
          </a:prstGeom>
          <a:noFill/>
          <a:ln w="33020">
            <a:solidFill>
              <a:srgbClr val="8A6D1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7" name="Shape 31">
            <a:extLst>
              <a:ext uri="{FF2B5EF4-FFF2-40B4-BE49-F238E27FC236}">
                <a16:creationId xmlns:a16="http://schemas.microsoft.com/office/drawing/2014/main" id="{13716D88-E9CF-3D73-68F0-F912BCC66E3A}"/>
              </a:ext>
            </a:extLst>
          </p:cNvPr>
          <p:cNvSpPr/>
          <p:nvPr/>
        </p:nvSpPr>
        <p:spPr>
          <a:xfrm>
            <a:off x="6319194" y="3808794"/>
            <a:ext cx="0" cy="502446"/>
          </a:xfrm>
          <a:prstGeom prst="line">
            <a:avLst/>
          </a:prstGeom>
          <a:noFill/>
          <a:ln w="33020">
            <a:solidFill>
              <a:srgbClr val="8A6D1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8" name="Shape 32">
            <a:extLst>
              <a:ext uri="{FF2B5EF4-FFF2-40B4-BE49-F238E27FC236}">
                <a16:creationId xmlns:a16="http://schemas.microsoft.com/office/drawing/2014/main" id="{63EA44EE-42BD-780C-D360-7DF094DADF60}"/>
              </a:ext>
            </a:extLst>
          </p:cNvPr>
          <p:cNvSpPr/>
          <p:nvPr/>
        </p:nvSpPr>
        <p:spPr>
          <a:xfrm>
            <a:off x="6319194" y="3808794"/>
            <a:ext cx="284065" cy="0"/>
          </a:xfrm>
          <a:prstGeom prst="line">
            <a:avLst/>
          </a:prstGeom>
          <a:noFill/>
          <a:ln w="33020">
            <a:solidFill>
              <a:srgbClr val="8A6D12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9" name="Shape 33">
            <a:extLst>
              <a:ext uri="{FF2B5EF4-FFF2-40B4-BE49-F238E27FC236}">
                <a16:creationId xmlns:a16="http://schemas.microsoft.com/office/drawing/2014/main" id="{8D6C92BA-37A7-48C9-656B-B54BCA2BE066}"/>
              </a:ext>
            </a:extLst>
          </p:cNvPr>
          <p:cNvSpPr/>
          <p:nvPr/>
        </p:nvSpPr>
        <p:spPr>
          <a:xfrm>
            <a:off x="4558936" y="4049094"/>
            <a:ext cx="203001" cy="0"/>
          </a:xfrm>
          <a:prstGeom prst="line">
            <a:avLst/>
          </a:prstGeom>
          <a:noFill/>
          <a:ln w="27940">
            <a:solidFill>
              <a:srgbClr val="171717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0" name="Shape 34">
            <a:extLst>
              <a:ext uri="{FF2B5EF4-FFF2-40B4-BE49-F238E27FC236}">
                <a16:creationId xmlns:a16="http://schemas.microsoft.com/office/drawing/2014/main" id="{4F831123-A32C-00F9-AF56-2D09EDED5A5A}"/>
              </a:ext>
            </a:extLst>
          </p:cNvPr>
          <p:cNvSpPr/>
          <p:nvPr/>
        </p:nvSpPr>
        <p:spPr>
          <a:xfrm>
            <a:off x="5634422" y="4049094"/>
            <a:ext cx="248578" cy="0"/>
          </a:xfrm>
          <a:prstGeom prst="line">
            <a:avLst/>
          </a:prstGeom>
          <a:noFill/>
          <a:ln w="27940">
            <a:solidFill>
              <a:srgbClr val="171717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1" name="Shape 35">
            <a:extLst>
              <a:ext uri="{FF2B5EF4-FFF2-40B4-BE49-F238E27FC236}">
                <a16:creationId xmlns:a16="http://schemas.microsoft.com/office/drawing/2014/main" id="{C6A150E4-CCAF-41D9-9253-8130B2C7403E}"/>
              </a:ext>
            </a:extLst>
          </p:cNvPr>
          <p:cNvSpPr/>
          <p:nvPr/>
        </p:nvSpPr>
        <p:spPr>
          <a:xfrm>
            <a:off x="6755485" y="4049094"/>
            <a:ext cx="405806" cy="0"/>
          </a:xfrm>
          <a:prstGeom prst="line">
            <a:avLst/>
          </a:prstGeom>
          <a:noFill/>
          <a:ln w="27940">
            <a:solidFill>
              <a:srgbClr val="171717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2" name="Text 36">
            <a:extLst>
              <a:ext uri="{FF2B5EF4-FFF2-40B4-BE49-F238E27FC236}">
                <a16:creationId xmlns:a16="http://schemas.microsoft.com/office/drawing/2014/main" id="{457EDB88-EF1C-0C31-56C1-96FB302436EE}"/>
              </a:ext>
            </a:extLst>
          </p:cNvPr>
          <p:cNvSpPr/>
          <p:nvPr/>
        </p:nvSpPr>
        <p:spPr>
          <a:xfrm>
            <a:off x="1638415" y="2055295"/>
            <a:ext cx="3365224" cy="459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70" b="1" dirty="0">
                <a:solidFill>
                  <a:srgbClr val="7C3A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Down-projection</a:t>
            </a:r>
            <a:endParaRPr lang="en-US" sz="2070" dirty="0"/>
          </a:p>
        </p:txBody>
      </p:sp>
      <p:sp>
        <p:nvSpPr>
          <p:cNvPr id="113" name="Text 37">
            <a:extLst>
              <a:ext uri="{FF2B5EF4-FFF2-40B4-BE49-F238E27FC236}">
                <a16:creationId xmlns:a16="http://schemas.microsoft.com/office/drawing/2014/main" id="{82029B37-52D2-A050-8989-21C190F80D0D}"/>
              </a:ext>
            </a:extLst>
          </p:cNvPr>
          <p:cNvSpPr/>
          <p:nvPr/>
        </p:nvSpPr>
        <p:spPr>
          <a:xfrm>
            <a:off x="1638415" y="2433595"/>
            <a:ext cx="3365224" cy="359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20" dirty="0">
                <a:solidFill>
                  <a:srgbClr val="7C3A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1×1 binary conv  ( W </a:t>
            </a:r>
            <a:r>
              <a:rPr lang="en-US" sz="1620" baseline="30000" dirty="0">
                <a:solidFill>
                  <a:srgbClr val="7C3A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down</a:t>
            </a:r>
            <a:r>
              <a:rPr lang="en-US" sz="1620" dirty="0">
                <a:solidFill>
                  <a:srgbClr val="7C3A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)</a:t>
            </a:r>
            <a:endParaRPr lang="en-US" sz="1620" dirty="0"/>
          </a:p>
        </p:txBody>
      </p:sp>
      <p:sp>
        <p:nvSpPr>
          <p:cNvPr id="114" name="Text 38">
            <a:extLst>
              <a:ext uri="{FF2B5EF4-FFF2-40B4-BE49-F238E27FC236}">
                <a16:creationId xmlns:a16="http://schemas.microsoft.com/office/drawing/2014/main" id="{C4EDB2CC-ED32-2305-8470-82124562B26B}"/>
              </a:ext>
            </a:extLst>
          </p:cNvPr>
          <p:cNvSpPr/>
          <p:nvPr/>
        </p:nvSpPr>
        <p:spPr>
          <a:xfrm>
            <a:off x="7051625" y="2055295"/>
            <a:ext cx="3365224" cy="459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70" b="1" dirty="0">
                <a:solidFill>
                  <a:srgbClr val="7C3A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Up-projection</a:t>
            </a:r>
            <a:endParaRPr lang="en-US" sz="2070" dirty="0"/>
          </a:p>
        </p:txBody>
      </p:sp>
      <p:sp>
        <p:nvSpPr>
          <p:cNvPr id="115" name="Text 39">
            <a:extLst>
              <a:ext uri="{FF2B5EF4-FFF2-40B4-BE49-F238E27FC236}">
                <a16:creationId xmlns:a16="http://schemas.microsoft.com/office/drawing/2014/main" id="{4C324434-6D9E-F7CD-CE69-32876BF34DB6}"/>
              </a:ext>
            </a:extLst>
          </p:cNvPr>
          <p:cNvSpPr/>
          <p:nvPr/>
        </p:nvSpPr>
        <p:spPr>
          <a:xfrm>
            <a:off x="7051625" y="2433595"/>
            <a:ext cx="3365224" cy="359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20" dirty="0">
                <a:solidFill>
                  <a:srgbClr val="7C3A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1×1 binary conv  ( W </a:t>
            </a:r>
            <a:r>
              <a:rPr lang="en-US" sz="1620" baseline="30000" dirty="0">
                <a:solidFill>
                  <a:srgbClr val="7C3A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</a:t>
            </a:r>
            <a:r>
              <a:rPr lang="en-US" sz="1620" dirty="0">
                <a:solidFill>
                  <a:srgbClr val="7C3A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)</a:t>
            </a:r>
            <a:endParaRPr lang="en-US" sz="1620" dirty="0"/>
          </a:p>
        </p:txBody>
      </p:sp>
      <p:sp>
        <p:nvSpPr>
          <p:cNvPr id="116" name="Text 40">
            <a:extLst>
              <a:ext uri="{FF2B5EF4-FFF2-40B4-BE49-F238E27FC236}">
                <a16:creationId xmlns:a16="http://schemas.microsoft.com/office/drawing/2014/main" id="{517F43F2-DFBA-6627-62A5-B26047752CF6}"/>
              </a:ext>
            </a:extLst>
          </p:cNvPr>
          <p:cNvSpPr/>
          <p:nvPr/>
        </p:nvSpPr>
        <p:spPr>
          <a:xfrm>
            <a:off x="4798426" y="4816776"/>
            <a:ext cx="3186272" cy="4592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zh-TW" sz="2070" b="1" dirty="0">
                <a:solidFill>
                  <a:srgbClr val="6E5610"/>
                </a:solidFill>
                <a:latin typeface="Times New Roman" pitchFamily="34" charset="0"/>
                <a:cs typeface="Times New Roman" pitchFamily="34" charset="-120"/>
              </a:rPr>
              <a:t>Binarized activation</a:t>
            </a:r>
          </a:p>
          <a:p>
            <a:pPr algn="ctr"/>
            <a:r>
              <a:rPr lang="en-US" sz="2070" b="1" dirty="0">
                <a:solidFill>
                  <a:srgbClr val="6E561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(Sign)</a:t>
            </a:r>
            <a:endParaRPr lang="en-US" sz="20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484</TotalTime>
  <Words>23</Words>
  <Application>Microsoft Office PowerPoint</Application>
  <PresentationFormat>寬螢幕</PresentationFormat>
  <Paragraphs>7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黃柏鈞</dc:creator>
  <cp:keywords/>
  <dc:description>generated using python-pptx</dc:description>
  <cp:lastModifiedBy>barkie</cp:lastModifiedBy>
  <cp:revision>8</cp:revision>
  <dcterms:created xsi:type="dcterms:W3CDTF">2013-01-27T09:14:16Z</dcterms:created>
  <dcterms:modified xsi:type="dcterms:W3CDTF">2026-07-19T05:33:19Z</dcterms:modified>
  <cp:category/>
</cp:coreProperties>
</file>